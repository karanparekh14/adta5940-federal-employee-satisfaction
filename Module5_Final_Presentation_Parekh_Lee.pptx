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040" y="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2377440"/>
            <a:ext cx="82296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ADCFC"/>
                </a:solidFill>
                <a:latin typeface="Calibri"/>
              </a:rPr>
              <a:t>ADTA 5940 — ANALYTICS CAPSTONE ·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Remote Work and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Federal Employee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ADCFC"/>
                </a:solidFill>
                <a:latin typeface="Calibri"/>
              </a:rPr>
              <a:t>A view from 646,000 federal employees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Karan Parekh  ·  Chau 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University of North Texas  ·  Dr. Denise Philpot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THE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64008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0" b="1">
                <a:solidFill>
                  <a:srgbClr val="1E2761"/>
                </a:solidFill>
                <a:latin typeface="Calibri"/>
              </a:rPr>
              <a:t>71%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of federal employees say they're satisfied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492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B738D"/>
                </a:solidFill>
                <a:latin typeface="Calibri"/>
              </a:rPr>
              <a:t>Today's question: why those, and not the other 187,000?</a:t>
            </a:r>
          </a:p>
        </p:txBody>
      </p:sp>
      <p:pic>
        <p:nvPicPr>
          <p:cNvPr id="7" name="Picture 6" descr="01_satisfact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937760" cy="27411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Source: 2024 OPM Federal Employee Viewpoint Survey · n = 646,545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0936" y="693939"/>
            <a:ext cx="1078992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dirty="0">
                <a:solidFill>
                  <a:srgbClr val="1E2761"/>
                </a:solidFill>
                <a:latin typeface="Calibri"/>
              </a:rPr>
              <a:t>OUR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248644"/>
            <a:ext cx="10607040" cy="3411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21295C"/>
                </a:solidFill>
                <a:latin typeface="Calibri"/>
              </a:rPr>
              <a:t>1. </a:t>
            </a:r>
            <a:r>
              <a:rPr sz="3600" b="1" dirty="0">
                <a:solidFill>
                  <a:srgbClr val="21295C"/>
                </a:solidFill>
                <a:latin typeface="Calibri"/>
              </a:rPr>
              <a:t>Does where you work — remote, hybrid, or on-site —</a:t>
            </a:r>
          </a:p>
          <a:p>
            <a:pPr algn="l">
              <a:lnSpc>
                <a:spcPct val="125000"/>
              </a:lnSpc>
            </a:pPr>
            <a:r>
              <a:rPr sz="3600" b="1" dirty="0">
                <a:solidFill>
                  <a:srgbClr val="21295C"/>
                </a:solidFill>
                <a:latin typeface="Calibri"/>
              </a:rPr>
              <a:t>actually change how satisfied you are?</a:t>
            </a:r>
            <a:endParaRPr lang="en-US" sz="3600" b="1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endParaRPr lang="en-US" sz="3600" b="1" dirty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lang="en-US" sz="3600" b="1" dirty="0">
                <a:solidFill>
                  <a:srgbClr val="21295C"/>
                </a:solidFill>
                <a:latin typeface="Calibri"/>
              </a:rPr>
              <a:t>2. Which Employees are at risk of leaving?</a:t>
            </a:r>
          </a:p>
          <a:p>
            <a:pPr algn="l">
              <a:lnSpc>
                <a:spcPct val="125000"/>
              </a:lnSpc>
            </a:pPr>
            <a:endParaRPr lang="en-US" sz="3600" b="1" dirty="0">
              <a:solidFill>
                <a:srgbClr val="21295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WHAT WE WORKED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167" y="2194560"/>
            <a:ext cx="338328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5167" y="2194560"/>
            <a:ext cx="3383280" cy="91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167" y="256032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1E2761"/>
                </a:solidFill>
                <a:latin typeface="Calibri"/>
              </a:rPr>
              <a:t>646K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respondents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420624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Every federal employee who responded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to the 2024 viewpoint survey.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207" y="2194560"/>
            <a:ext cx="338328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4207" y="2194560"/>
            <a:ext cx="3383280" cy="91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4207" y="256032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1E2761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4207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agencies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8527" y="420624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From cabinet departments to small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independent agencies.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3247" y="2194560"/>
            <a:ext cx="338328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3247" y="2194560"/>
            <a:ext cx="3383280" cy="914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3247" y="256032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1E2761"/>
                </a:solidFill>
                <a:latin typeface="Calibri"/>
              </a:rPr>
              <a:t>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3247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7567" y="420624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Job satisfaction, engagement,</a:t>
            </a:r>
          </a:p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work-life balance, demographics.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38D"/>
                </a:solidFill>
                <a:latin typeface="Calibri"/>
              </a:rPr>
              <a:t>Source: U.S. Office of Personnel Management — Public Release Data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We built the model in four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38D"/>
                </a:solidFill>
                <a:latin typeface="Calibri"/>
              </a:rPr>
              <a:t>Each step adds one ingredient and shows how much more it explains.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707" y="274320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3707" y="2743200"/>
            <a:ext cx="26060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3707" y="280720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" y="361188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Telework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46634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6B738D"/>
                </a:solidFill>
                <a:latin typeface="Calibri"/>
              </a:rPr>
              <a:t>Where you work.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55467" y="4023360"/>
            <a:ext cx="228600" cy="1828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787" y="274320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29787" y="2743200"/>
            <a:ext cx="26060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9787" y="280720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8387" y="361188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+ Work-life 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8387" y="46634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6B738D"/>
                </a:solidFill>
                <a:latin typeface="Calibri"/>
              </a:rPr>
              <a:t>Do you have time for life?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1547" y="4023360"/>
            <a:ext cx="228600" cy="1828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55867" y="274320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55867" y="2743200"/>
            <a:ext cx="26060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5867" y="280720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361188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+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4467" y="46634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6B738D"/>
                </a:solidFill>
                <a:latin typeface="Calibri"/>
              </a:rPr>
              <a:t>Are you energized by your work?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07627" y="4023360"/>
            <a:ext cx="228600" cy="182880"/>
          </a:xfrm>
          <a:prstGeom prst="rightArrow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1947" y="2743200"/>
            <a:ext cx="260604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81947" y="2743200"/>
            <a:ext cx="260604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1947" y="280720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0547" y="3611880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21295C"/>
                </a:solidFill>
                <a:latin typeface="Calibri"/>
              </a:rPr>
              <a:t>+ Demographics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0547" y="46634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6B738D"/>
                </a:solidFill>
                <a:latin typeface="Calibri"/>
              </a:rPr>
              <a:t>Age, gender, tenure, supervisor.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FINDING 1 —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At first glance, remote workers look more satisfied</a:t>
            </a:r>
          </a:p>
        </p:txBody>
      </p:sp>
      <p:pic>
        <p:nvPicPr>
          <p:cNvPr id="5" name="Picture 4" descr="02_telework_raw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132320" cy="39593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2194560"/>
            <a:ext cx="3657600" cy="33832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3774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43200"/>
            <a:ext cx="32918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>
                <a:solidFill>
                  <a:srgbClr val="1E2761"/>
                </a:solidFill>
                <a:latin typeface="Calibri"/>
              </a:rPr>
              <a:t>0.40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206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95C"/>
                </a:solidFill>
                <a:latin typeface="Calibri"/>
              </a:rPr>
              <a:t>points on the 5-point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1295C"/>
                </a:solidFill>
                <a:latin typeface="Calibri"/>
              </a:rPr>
              <a:t>satisfaction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93776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38D"/>
                </a:solidFill>
                <a:latin typeface="Calibri"/>
              </a:rPr>
              <a:t>Routine remote (3.94)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38D"/>
                </a:solidFill>
                <a:latin typeface="Calibri"/>
              </a:rPr>
              <a:t>vs. required on-site (3.54)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FEVS 2024  ·  Q70 mean by Q91 telework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FINDING 1 — THE TWIST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…but that's not the whole story</a:t>
            </a:r>
          </a:p>
        </p:txBody>
      </p:sp>
      <p:pic>
        <p:nvPicPr>
          <p:cNvPr id="5" name="Picture 4" descr="04_simpsons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132320" cy="395230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1920240"/>
            <a:ext cx="3657600" cy="4023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C107"/>
                </a:solidFill>
                <a:latin typeface="Calibri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5176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The telework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effect flipped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sign.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20624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Once we account for engagement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and work-life balance, being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required on-site goes from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−0.40 to slightly positive.</a:t>
            </a:r>
          </a:p>
          <a:p>
            <a:pPr algn="l">
              <a:lnSpc>
                <a:spcPct val="135000"/>
              </a:lnSpc>
            </a:pPr>
            <a:endParaRPr sz="1100" b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The original gap wasn't really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about where people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Hierarchical OLS regression  ·  M1 vs. M4 telework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FINDING 2 — WHAT ACTUALLY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Engagement explains the variation, not telework</a:t>
            </a:r>
          </a:p>
        </p:txBody>
      </p:sp>
      <p:pic>
        <p:nvPicPr>
          <p:cNvPr id="5" name="Picture 4" descr="03_r2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680960" cy="4259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219456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761"/>
                </a:solidFill>
                <a:latin typeface="Calibri"/>
              </a:rPr>
              <a:t>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971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95C"/>
                </a:solidFill>
                <a:latin typeface="Calibri"/>
              </a:rPr>
              <a:t>Telework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34747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761"/>
                </a:solidFill>
                <a:latin typeface="Calibri"/>
              </a:rPr>
              <a:t>41%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42519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95C"/>
                </a:solidFill>
                <a:latin typeface="Calibri"/>
              </a:rPr>
              <a:t>+ Work-life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475488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761"/>
                </a:solidFill>
                <a:latin typeface="Calibri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5532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1295C"/>
                </a:solidFill>
                <a:latin typeface="Calibri"/>
              </a:rPr>
              <a:t>+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R² of nested OLS models  ·  n = 519,284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FINDING 2 — RANKED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Engagement is ~7× larger than the next thing</a:t>
            </a:r>
          </a:p>
        </p:txBody>
      </p:sp>
      <p:pic>
        <p:nvPicPr>
          <p:cNvPr id="5" name="Picture 4" descr="05_standardized_co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6766560" cy="45308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828800"/>
            <a:ext cx="4206240" cy="42976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READING THIS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46888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Each bar is the standardized effect on satisfaction.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Engagement: β = 0.71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Next closest: β = 0.10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Where you work, gender, age, tenure — barely register.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Standardized OLS · Model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107"/>
                </a:solidFill>
                <a:latin typeface="Calibri"/>
              </a:rPr>
              <a:t>BONUS — SECONDARY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10994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Side question: </a:t>
            </a:r>
            <a:r>
              <a:rPr lang="en-US" sz="3200" b="1" dirty="0">
                <a:solidFill>
                  <a:srgbClr val="21295C"/>
                </a:solidFill>
                <a:latin typeface="Calibri"/>
              </a:rPr>
              <a:t>WHICH EMPLOYEES ARE AT RISK OF LEAVING</a:t>
            </a:r>
          </a:p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21295C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391422"/>
            <a:ext cx="3657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E2761"/>
                </a:solidFill>
                <a:latin typeface="Calibri"/>
              </a:rPr>
              <a:t>33%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21295C"/>
                </a:solidFill>
                <a:latin typeface="Calibri"/>
              </a:rPr>
              <a:t>of federal employees are considering leaving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E2761"/>
                </a:solidFill>
                <a:latin typeface="Calibri"/>
              </a:rPr>
              <a:t>AUC 0.77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38D"/>
                </a:solidFill>
                <a:latin typeface="Calibri"/>
              </a:rPr>
              <a:t>XGBoost classifier (recall 64% on leavers)</a:t>
            </a:r>
          </a:p>
        </p:txBody>
      </p:sp>
      <p:pic>
        <p:nvPicPr>
          <p:cNvPr id="9" name="Picture 8" descr="cell34_xgboo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20240"/>
            <a:ext cx="6766560" cy="4194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989320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1295C"/>
                </a:solidFill>
                <a:latin typeface="Calibri"/>
              </a:rPr>
              <a:t>Top 3 drivers: Job satisfaction (Q70), Leadership (Q57–Q65 mean), Pay satisfaction (Q71).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155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738D"/>
                </a:solidFill>
                <a:latin typeface="Calibri"/>
              </a:rPr>
              <a:t>Demographics (DFEDTEN_C = tenure 20+, DSEX_B = female, etc.) barely register.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107"/>
                </a:solidFill>
                <a:latin typeface="Calibri"/>
              </a:rPr>
              <a:t>BONUS — THE PAY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And the relationship is monotonic</a:t>
            </a:r>
          </a:p>
        </p:txBody>
      </p:sp>
      <p:pic>
        <p:nvPicPr>
          <p:cNvPr id="5" name="Picture 4" descr="cell16_attrition_by_pay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949440" cy="43118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1828800"/>
            <a:ext cx="3931920" cy="42976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2761"/>
                </a:solidFill>
                <a:latin typeface="Calibri"/>
              </a:rPr>
              <a:t>FROM RED TO 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6888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761"/>
                </a:solidFill>
                <a:latin typeface="Calibri"/>
              </a:rPr>
              <a:t>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2918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95C"/>
                </a:solidFill>
                <a:latin typeface="Calibri"/>
              </a:rPr>
              <a:t>attrition rate among employees very dissatisfied with pay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420624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E2761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50292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1295C"/>
                </a:solidFill>
                <a:latin typeface="Calibri"/>
              </a:rPr>
              <a:t>attrition rate among those very satisfied with 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Source: Attrition_Pipeline_Cleaned.ipynb · cell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E2761"/>
                </a:solidFill>
                <a:latin typeface="Calibri"/>
              </a:rPr>
              <a:t>SO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21295C"/>
                </a:solidFill>
                <a:latin typeface="Calibri"/>
              </a:rPr>
              <a:t>Three takeaways for federal agencies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9456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1295C"/>
                </a:solidFill>
                <a:latin typeface="Calibri"/>
              </a:rPr>
              <a:t>Don't fight over telework policy.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38D"/>
                </a:solidFill>
                <a:latin typeface="Calibri"/>
              </a:rPr>
              <a:t>It's a small lever. Engagement is the big one.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2044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1295C"/>
                </a:solidFill>
                <a:latin typeface="Calibri"/>
              </a:rPr>
              <a:t>Invest in engagement.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069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38D"/>
                </a:solidFill>
                <a:latin typeface="Calibri"/>
              </a:rPr>
              <a:t>Manager quality, mission clarity, recognition — that's the 60%.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84632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8920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1295C"/>
                </a:solidFill>
                <a:latin typeface="Calibri"/>
              </a:rPr>
              <a:t>Watch attrition 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3949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38D"/>
                </a:solidFill>
                <a:latin typeface="Calibri"/>
              </a:rPr>
              <a:t>Low pay satisfaction × low engagement = high flight risk.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822960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ADCFC"/>
                </a:solidFill>
                <a:latin typeface="Calibri"/>
              </a:rPr>
              <a:t>LIMITATIONS &amp; WHAT WE'D DO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Cross-sectional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We see association, not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Self-reported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Same person rates engagement and satisfaction.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Single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2024 only. Replicate across 2022–24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64592" cy="13716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CADCFC"/>
                </a:solidFill>
                <a:latin typeface="Calibri"/>
              </a:rPr>
              <a:t>Telework gets the headlines.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Engagement gets the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ADCFC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695" y="6446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CADCFC"/>
                </a:solidFill>
                <a:latin typeface="Calibri"/>
              </a:rPr>
              <a:t>Karan Parekh · Chau 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38D"/>
                </a:solidFill>
                <a:latin typeface="Calibri"/>
              </a:rPr>
              <a:t>BACKUP 1 / 5 — Q71 BOXPLOT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21295C"/>
                </a:solidFill>
                <a:latin typeface="Calibri"/>
              </a:rPr>
              <a:t>Pay satisfaction vs. leaving (boxplot)</a:t>
            </a:r>
          </a:p>
        </p:txBody>
      </p:sp>
      <p:pic>
        <p:nvPicPr>
          <p:cNvPr id="5" name="Picture 4" descr="cell14_import_matplotlib_pyplot_as_p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029200" cy="40180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920240"/>
            <a:ext cx="5882335" cy="4114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2103120"/>
            <a:ext cx="551657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Stayers (0): median pay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satisfaction = 4.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Leavers (1): median pay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satisfaction = 3.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The full distribution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shifts down a full point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for those considering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leaving.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Q&amp;A backup — not part of main 15-min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38D"/>
                </a:solidFill>
                <a:latin typeface="Calibri"/>
              </a:rPr>
              <a:t>BACKUP 2 / 5 — TOP 20 AGENCIES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21295C"/>
                </a:solidFill>
                <a:latin typeface="Calibri"/>
              </a:rPr>
              <a:t>Attrition varies a lot by agency</a:t>
            </a:r>
          </a:p>
        </p:txBody>
      </p:sp>
      <p:pic>
        <p:nvPicPr>
          <p:cNvPr id="5" name="Picture 4" descr="cell25_colors_a0c4ff_len_attrition_by_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486400" cy="45330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0" y="1920240"/>
            <a:ext cx="5425135" cy="4114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2103120"/>
            <a:ext cx="505937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Highest attrition: AF, DD,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AR (~40-45%).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Lowest: GS, EP, CM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(~22-25%).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Two-fold variation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suggests agency-level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culture matters — not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just individual factors.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Q&amp;A backup — not part of main 15-min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38D"/>
                </a:solidFill>
                <a:latin typeface="Calibri"/>
              </a:rPr>
              <a:t>BACKUP 3 / 5 — AGENCY SCATTER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21295C"/>
                </a:solidFill>
                <a:latin typeface="Calibri"/>
              </a:rPr>
              <a:t>Less satisfied agencies have higher attrition</a:t>
            </a:r>
          </a:p>
        </p:txBody>
      </p:sp>
      <p:pic>
        <p:nvPicPr>
          <p:cNvPr id="5" name="Picture 4" descr="cell27_sns_scatte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029200" cy="3955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920240"/>
            <a:ext cx="5882335" cy="4114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2103120"/>
            <a:ext cx="551657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Each dot is one agency.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Clear inverse pattern: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higher mean job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satisfaction ↔ lower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attrition rate.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The outlier in the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upper-left is a small,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low-satisfaction agency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with high churn.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Q&amp;A backup — not part of main 15-min 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38D"/>
                </a:solidFill>
                <a:latin typeface="Calibri"/>
              </a:rPr>
              <a:t>BACKUP 4 / 5 — Q70 / Q71 / LEADERSHIP BY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21295C"/>
                </a:solidFill>
                <a:latin typeface="Calibri"/>
              </a:rPr>
              <a:t>Department satisfaction heatmap</a:t>
            </a:r>
          </a:p>
        </p:txBody>
      </p:sp>
      <p:pic>
        <p:nvPicPr>
          <p:cNvPr id="5" name="Picture 4" descr="cell22_dept_scores_df_groupby_a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029200" cy="40703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920240"/>
            <a:ext cx="5882335" cy="4114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2103120"/>
            <a:ext cx="551657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Mean scores across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36 agencies for: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• Job satisfaction (Q70)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• Pay satisfaction (Q71)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• Leadership composite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Darker = higher score.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Most agencies cluster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around 3.7-4.0 on the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5-point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Q&amp;A backup — not part of main 15-min 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7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6B738D"/>
                </a:solidFill>
                <a:latin typeface="Calibri"/>
              </a:rPr>
              <a:t>BACKUP 5 / 5 — LR vs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21295C"/>
                </a:solidFill>
                <a:latin typeface="Calibri"/>
              </a:rPr>
              <a:t>Model performance — XGBoost confusion matrix</a:t>
            </a:r>
          </a:p>
        </p:txBody>
      </p:sp>
      <p:pic>
        <p:nvPicPr>
          <p:cNvPr id="5" name="Picture 4" descr="cell33_xgboos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029200" cy="36803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920240"/>
            <a:ext cx="5882335" cy="4114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0" y="2103120"/>
            <a:ext cx="5516575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XGBoost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confusion matrix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on 20% holdout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(n = 126,460).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AUC: 0.771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Recall on leavers: 64%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(vs. 46% for RF —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scale_pos_weight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balancing helped).</a:t>
            </a:r>
          </a:p>
          <a:p>
            <a:pPr algn="l">
              <a:lnSpc>
                <a:spcPct val="140000"/>
              </a:lnSpc>
            </a:pPr>
            <a:endParaRPr sz="1200" b="0">
              <a:solidFill>
                <a:srgbClr val="21295C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Logistic Regression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1295C"/>
                </a:solidFill>
                <a:latin typeface="Calibri"/>
              </a:rPr>
              <a:t>baseline AUC: 0.764.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38D"/>
                </a:solidFill>
                <a:latin typeface="Calibri"/>
              </a:rPr>
              <a:t>Q&amp;A backup — not part of main 15-min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984</Words>
  <Application>Microsoft Office PowerPoint</Application>
  <PresentationFormat>Widescreen</PresentationFormat>
  <Paragraphs>207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Parekh, Karan</cp:lastModifiedBy>
  <cp:revision>2</cp:revision>
  <dcterms:created xsi:type="dcterms:W3CDTF">2013-01-27T09:14:16Z</dcterms:created>
  <dcterms:modified xsi:type="dcterms:W3CDTF">2026-04-30T23:28:10Z</dcterms:modified>
  <cp:category/>
</cp:coreProperties>
</file>