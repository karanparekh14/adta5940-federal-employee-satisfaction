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7"/>
  </p:notesMasterIdLst>
  <p:sldIdLst>
    <p:sldId id="256" r:id="rId2"/>
    <p:sldId id="316" r:id="rId3"/>
    <p:sldId id="260" r:id="rId4"/>
    <p:sldId id="317" r:id="rId5"/>
    <p:sldId id="333" r:id="rId6"/>
    <p:sldId id="318" r:id="rId7"/>
    <p:sldId id="319" r:id="rId8"/>
    <p:sldId id="334" r:id="rId9"/>
    <p:sldId id="335" r:id="rId10"/>
    <p:sldId id="320" r:id="rId11"/>
    <p:sldId id="339" r:id="rId12"/>
    <p:sldId id="336" r:id="rId13"/>
    <p:sldId id="328" r:id="rId14"/>
    <p:sldId id="338" r:id="rId15"/>
    <p:sldId id="341" r:id="rId16"/>
    <p:sldId id="342" r:id="rId17"/>
    <p:sldId id="343" r:id="rId18"/>
    <p:sldId id="344" r:id="rId19"/>
    <p:sldId id="345" r:id="rId20"/>
    <p:sldId id="346" r:id="rId21"/>
    <p:sldId id="347" r:id="rId22"/>
    <p:sldId id="321" r:id="rId23"/>
    <p:sldId id="348" r:id="rId24"/>
    <p:sldId id="349" r:id="rId25"/>
    <p:sldId id="340" r:id="rId26"/>
  </p:sldIdLst>
  <p:sldSz cx="18288000" cy="10287000"/>
  <p:notesSz cx="6858000" cy="9144000"/>
  <p:embeddedFontLst>
    <p:embeddedFont>
      <p:font typeface="Open Sauce" panose="020B0604020202020204" charset="0"/>
      <p:regular r:id="rId28"/>
    </p:embeddedFont>
    <p:embeddedFont>
      <p:font typeface="Ovo" panose="020B0604020202020204" charset="0"/>
      <p:regular r:id="rId2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F2B3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68728A9-BC2A-DF45-7DD4-F8C18E537B86}" v="354" dt="2026-05-04T21:29:01.15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6207" autoAdjust="0"/>
    <p:restoredTop sz="85823" autoAdjust="0"/>
  </p:normalViewPr>
  <p:slideViewPr>
    <p:cSldViewPr>
      <p:cViewPr varScale="1">
        <p:scale>
          <a:sx n="71" d="100"/>
          <a:sy n="71" d="100"/>
        </p:scale>
        <p:origin x="272" y="1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7BEBBCF-7EDF-7C41-8CD9-E1E25CD011B0}" type="datetimeFigureOut">
              <a:rPr lang="en-CN" smtClean="0"/>
              <a:t>05/04/2026</a:t>
            </a:fld>
            <a:endParaRPr lang="en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CB0CFE-8236-BD41-85D4-B5434BF7754A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41191613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CB0CFE-8236-BD41-85D4-B5434BF7754A}" type="slidenum">
              <a:rPr lang="en-CN" smtClean="0"/>
              <a:t>1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42590427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CB0CFE-8236-BD41-85D4-B5434BF7754A}" type="slidenum">
              <a:rPr lang="en-CN" smtClean="0"/>
              <a:t>2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41986247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CB0CFE-8236-BD41-85D4-B5434BF7754A}" type="slidenum">
              <a:rPr lang="en-CN" smtClean="0"/>
              <a:t>3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74035271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A3B8B7-245D-7082-EB7D-12D80920FA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8C9D3D0-4BC3-EC93-046F-576AA5F718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F65113E-ADEE-E3D9-495D-A2B02DE8D0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CN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E3F6B5-B7F4-BD73-ACE6-C6BE6EE7DC0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CB0CFE-8236-BD41-85D4-B5434BF7754A}" type="slidenum">
              <a:rPr lang="en-CN" smtClean="0"/>
              <a:t>4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67683541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26EF0E-F2DC-A2B4-59D3-1E4704D5F3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6139B47-3F23-E0B3-5B0A-2C89D9F6FB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7F82274-DDAF-4F6C-3705-F93C6A1321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CN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4616A8-1153-FE48-1631-E54EE2DFE5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CB0CFE-8236-BD41-85D4-B5434BF7754A}" type="slidenum">
              <a:rPr lang="en-CN" smtClean="0"/>
              <a:t>5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24782012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D89847-F465-EEC8-DB0D-4925FC17EC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3E4F962-D48F-17D5-4A1E-B322462D7F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182B179-F7AD-6C76-39D7-04ED3B7DE1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  <a:endParaRPr lang="en-CN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B97B69-D97C-88BA-567E-F0D100486A6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CB0CFE-8236-BD41-85D4-B5434BF7754A}" type="slidenum">
              <a:rPr lang="en-CN" smtClean="0"/>
              <a:t>6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7776384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66CAAC-B179-021B-E95D-3AACAA552B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E00A01E-DA52-693D-31DB-721D133657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FA85D62-3EAA-35DC-F7C5-BBDEEB0A38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FD886C-A54B-B721-B8B7-1F5A25863E5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CB0CFE-8236-BD41-85D4-B5434BF7754A}" type="slidenum">
              <a:rPr lang="en-CN" smtClean="0"/>
              <a:t>7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06007794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0774C6-7C57-765B-6C72-B08D63CAF3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CB890D1-0221-3DA3-87D8-AEE03427D1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FA91CA8-4807-EA67-C600-27D8A77365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90A65B-30F8-348B-EEC3-F2C8808782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CB0CFE-8236-BD41-85D4-B5434BF7754A}" type="slidenum">
              <a:rPr lang="en-CN" smtClean="0"/>
              <a:t>8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13947793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34D42E-9A84-7DBA-BC62-18B59D14DD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DFF1F31-2717-859E-1C04-75FB04699E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7BF8F82-E862-5325-1A50-54FEFEBB38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959540-BAA9-7A21-5ABF-D7002E5C04C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CB0CFE-8236-BD41-85D4-B5434BF7754A}" type="slidenum">
              <a:rPr lang="en-CN" smtClean="0"/>
              <a:t>9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81794680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C4CC55-A9F2-53AC-0017-2F2B2A7F3F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BE91597-D24F-127B-E6DB-94CB410B9B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164EB9E-B068-DA12-FFE7-256DC824EF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F808E7-8178-C7F7-DE3F-EF8BC077E0B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CB0CFE-8236-BD41-85D4-B5434BF7754A}" type="slidenum">
              <a:rPr lang="en-CN" smtClean="0"/>
              <a:t>10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0410766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36AFC6-77BC-C5EF-A7F9-C452E0076C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D81DA1D-7003-E0F9-268C-3CDC4227F0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49E4AA-A6B9-5715-911E-2ADF7432E2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446FAA-A476-7FC5-C7AC-AA352245E6B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CB0CFE-8236-BD41-85D4-B5434BF7754A}" type="slidenum">
              <a:rPr lang="en-CN" smtClean="0"/>
              <a:t>11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49362863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16BDA4-2F36-3A3E-F83D-E49E1093B4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42BA508-611C-65FE-30F9-B0D2E563D1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D4990AF-2DE3-61B1-2EDB-491813F9C9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2AA9BA-DC41-2E05-38AE-48ECA50CB0C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CB0CFE-8236-BD41-85D4-B5434BF7754A}" type="slidenum">
              <a:rPr lang="en-CN" smtClean="0"/>
              <a:t>12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97694668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CB0CFE-8236-BD41-85D4-B5434BF7754A}" type="slidenum">
              <a:rPr lang="en-CN" smtClean="0"/>
              <a:t>13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67303817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01CDF7-13D0-FBB8-5386-EF1A42CEB4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472AF2D-CCF4-4831-9FD3-0CDC49A0A3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637C435-A211-42A1-F543-08259FBD6C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C5C982-7117-926E-8FDF-FA80CF9E800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CB0CFE-8236-BD41-85D4-B5434BF7754A}" type="slidenum">
              <a:rPr lang="en-CN" smtClean="0"/>
              <a:t>14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23505276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BE7DB4-1672-C3B4-6F1D-BAC7A6B083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E2DA073-EC7E-25A6-EE66-E0C5DB8555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2A2A2E0-DA87-BE1F-71C0-42BE81BF5D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45DE1D-80FC-A44A-9094-D44CBBD4D76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CB0CFE-8236-BD41-85D4-B5434BF7754A}" type="slidenum">
              <a:rPr lang="en-CN" smtClean="0"/>
              <a:t>15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53321959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ED60F1-C024-6F14-0B7F-5E4B2E2161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6955846-17E0-5882-7F87-601B66B217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B9F2146-8CF7-690E-F3FE-0702456DBC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5CA5BD-23B0-3E9D-6D35-C44620EC417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CB0CFE-8236-BD41-85D4-B5434BF7754A}" type="slidenum">
              <a:rPr lang="en-CN" smtClean="0"/>
              <a:t>16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01826646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34217A-0EE4-5712-A093-5A87DD6B3B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5E286C9-D7EF-A533-5744-7ED4949D0D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EEA24D5-62CA-86A0-5722-00B3E8EAF0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319371-1283-4FE4-2368-FAD2EB49742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CB0CFE-8236-BD41-85D4-B5434BF7754A}" type="slidenum">
              <a:rPr lang="en-CN" smtClean="0"/>
              <a:t>17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28282748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C5FC33-39F4-D400-5A39-ECB9455202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AB4A7EA-3FC2-9772-1B7B-D54CA6A16F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433C7F7-24DA-D639-F249-B2A1276113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9DB201-57F7-CDAB-F192-C473F802B9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CB0CFE-8236-BD41-85D4-B5434BF7754A}" type="slidenum">
              <a:rPr lang="en-CN" smtClean="0"/>
              <a:t>19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51761429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99D434-E78F-5996-C743-AB4CACDA08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9DD5A8E-751F-7B48-C10D-C4CF0ECEB8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4B615D9-D366-D60D-211C-9762CAC052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D03DA9-97CB-852B-F9D7-A0BEBB1411C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CB0CFE-8236-BD41-85D4-B5434BF7754A}" type="slidenum">
              <a:rPr lang="en-CN" smtClean="0"/>
              <a:t>20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4240411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B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990600" y="1884813"/>
            <a:ext cx="16992600" cy="4150227"/>
            <a:chOff x="567830" y="-3268034"/>
            <a:chExt cx="17465674" cy="5533636"/>
          </a:xfrm>
        </p:grpSpPr>
        <p:sp>
          <p:nvSpPr>
            <p:cNvPr id="4" name="TextBox 4"/>
            <p:cNvSpPr txBox="1"/>
            <p:nvPr/>
          </p:nvSpPr>
          <p:spPr>
            <a:xfrm>
              <a:off x="567830" y="-1787218"/>
              <a:ext cx="17465674" cy="4052820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ct val="105000"/>
                </a:lnSpc>
              </a:pPr>
              <a:r>
                <a:rPr lang="en-US" sz="9600" b="1" dirty="0">
                  <a:solidFill>
                    <a:srgbClr val="FFFFFF"/>
                  </a:solidFill>
                  <a:latin typeface="Calibri"/>
                </a:rPr>
                <a:t>Remote Work and</a:t>
              </a:r>
            </a:p>
            <a:p>
              <a:pPr algn="l">
                <a:lnSpc>
                  <a:spcPct val="105000"/>
                </a:lnSpc>
              </a:pPr>
              <a:r>
                <a:rPr lang="en-US" sz="9600" b="1" dirty="0">
                  <a:solidFill>
                    <a:srgbClr val="FFFFFF"/>
                  </a:solidFill>
                  <a:latin typeface="Calibri"/>
                </a:rPr>
                <a:t>Federal Employee Satisfaction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93937" y="-3268034"/>
              <a:ext cx="12100657" cy="153161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en-US" sz="3200" b="1" dirty="0">
                  <a:solidFill>
                    <a:srgbClr val="CADCFC"/>
                  </a:solidFill>
                  <a:latin typeface="Calibri"/>
                </a:rPr>
                <a:t>ADTA 5940 — ANALYTICS CAPSTONE · SPRING 2026</a:t>
              </a:r>
            </a:p>
            <a:p>
              <a:br>
                <a:rPr lang="en-US" sz="3200" dirty="0">
                  <a:solidFill>
                    <a:schemeClr val="bg1"/>
                  </a:solidFill>
                </a:rPr>
              </a:br>
              <a:endParaRPr lang="en-US" sz="2848" dirty="0">
                <a:solidFill>
                  <a:schemeClr val="bg1"/>
                </a:solidFill>
                <a:latin typeface="Open Sauce"/>
                <a:ea typeface="Open Sauce"/>
                <a:cs typeface="Open Sauce"/>
                <a:sym typeface="Open Sauce"/>
              </a:endParaRPr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D1C48B33-6FA2-09D3-57F9-745AA40949EF}"/>
              </a:ext>
            </a:extLst>
          </p:cNvPr>
          <p:cNvSpPr txBox="1"/>
          <p:nvPr/>
        </p:nvSpPr>
        <p:spPr>
          <a:xfrm>
            <a:off x="1219200" y="6871332"/>
            <a:ext cx="10972800" cy="4664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0" dirty="0">
                <a:solidFill>
                  <a:srgbClr val="CADCFC"/>
                </a:solidFill>
                <a:latin typeface="Calibri"/>
              </a:rPr>
              <a:t>A view from 646,000 federal employees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295A90-3AF2-5517-8E52-9368C502423E}"/>
              </a:ext>
            </a:extLst>
          </p:cNvPr>
          <p:cNvSpPr txBox="1"/>
          <p:nvPr/>
        </p:nvSpPr>
        <p:spPr>
          <a:xfrm>
            <a:off x="1219200" y="8036427"/>
            <a:ext cx="10972800" cy="4664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dirty="0">
                <a:solidFill>
                  <a:srgbClr val="FFFFFF"/>
                </a:solidFill>
                <a:latin typeface="Calibri"/>
              </a:rPr>
              <a:t>Karan Parekh  ·  Chau Le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8203299-1698-1466-8717-59BE3C38704A}"/>
              </a:ext>
            </a:extLst>
          </p:cNvPr>
          <p:cNvSpPr txBox="1"/>
          <p:nvPr/>
        </p:nvSpPr>
        <p:spPr>
          <a:xfrm>
            <a:off x="1219200" y="8502837"/>
            <a:ext cx="10972800" cy="333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 dirty="0">
                <a:solidFill>
                  <a:srgbClr val="CADCFC"/>
                </a:solidFill>
                <a:latin typeface="Calibri"/>
              </a:rPr>
              <a:t>University of North Texas  ·  Dr. Denise Philpot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CD56ED-4F12-83E9-C7DD-EA76D4A410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155858FC-F6BC-6F7F-6478-5221B176C5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5F2F1"/>
          </a:solidFill>
        </p:spPr>
        <p:txBody>
          <a:bodyPr/>
          <a:lstStyle/>
          <a:p>
            <a:endParaRPr lang="en-CN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B03C5EB-B258-B47C-E4DF-1BF14522A4BE}"/>
              </a:ext>
            </a:extLst>
          </p:cNvPr>
          <p:cNvSpPr txBox="1"/>
          <p:nvPr/>
        </p:nvSpPr>
        <p:spPr>
          <a:xfrm>
            <a:off x="1066800" y="955891"/>
            <a:ext cx="7315200" cy="39978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dirty="0">
                <a:solidFill>
                  <a:srgbClr val="1E2761"/>
                </a:solidFill>
                <a:latin typeface="Calibri"/>
              </a:rPr>
              <a:t>THE STARTING POINT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547336A-5445-0C85-DD94-6601A93F530C}"/>
              </a:ext>
            </a:extLst>
          </p:cNvPr>
          <p:cNvSpPr txBox="1"/>
          <p:nvPr/>
        </p:nvSpPr>
        <p:spPr>
          <a:xfrm>
            <a:off x="457200" y="1463040"/>
            <a:ext cx="6400800" cy="3200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4000" b="1" dirty="0">
                <a:solidFill>
                  <a:srgbClr val="1E2761"/>
                </a:solidFill>
                <a:latin typeface="Calibri"/>
              </a:rPr>
              <a:t>71%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20633BE-0C04-B6CA-98E5-7A836CCFB100}"/>
              </a:ext>
            </a:extLst>
          </p:cNvPr>
          <p:cNvSpPr txBox="1"/>
          <p:nvPr/>
        </p:nvSpPr>
        <p:spPr>
          <a:xfrm>
            <a:off x="482600" y="5707871"/>
            <a:ext cx="9027160" cy="5997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3600" b="1" dirty="0">
                <a:solidFill>
                  <a:srgbClr val="21295C"/>
                </a:solidFill>
                <a:latin typeface="Calibri"/>
              </a:rPr>
              <a:t>of federal employees say they're satisfied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FAF60AA-3BD0-A1A8-C7ED-4EF8DFFCB80F}"/>
              </a:ext>
            </a:extLst>
          </p:cNvPr>
          <p:cNvSpPr txBox="1"/>
          <p:nvPr/>
        </p:nvSpPr>
        <p:spPr>
          <a:xfrm>
            <a:off x="152400" y="6663361"/>
            <a:ext cx="12379960" cy="59965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3600" b="0" dirty="0">
                <a:solidFill>
                  <a:srgbClr val="6B738D"/>
                </a:solidFill>
                <a:latin typeface="Calibri"/>
              </a:rPr>
              <a:t>Today's question: why those, and not the other 187,000?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4FAFA5C-0D70-870B-653C-8EB657FD9A62}"/>
              </a:ext>
            </a:extLst>
          </p:cNvPr>
          <p:cNvSpPr txBox="1"/>
          <p:nvPr/>
        </p:nvSpPr>
        <p:spPr>
          <a:xfrm>
            <a:off x="1066800" y="8685130"/>
            <a:ext cx="11125200" cy="4664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0" dirty="0">
                <a:solidFill>
                  <a:srgbClr val="6B738D"/>
                </a:solidFill>
                <a:latin typeface="Calibri"/>
              </a:rPr>
              <a:t>Source: 2024 OPM Federal Employee Viewpoint Survey · n = 646,545</a:t>
            </a:r>
          </a:p>
        </p:txBody>
      </p:sp>
      <p:pic>
        <p:nvPicPr>
          <p:cNvPr id="18" name="Picture 17" descr="01_satisfaction_distribution.png">
            <a:extLst>
              <a:ext uri="{FF2B5EF4-FFF2-40B4-BE49-F238E27FC236}">
                <a16:creationId xmlns:a16="http://schemas.microsoft.com/office/drawing/2014/main" id="{7318C5EA-7066-244B-2976-ECCD70BFA0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93557" y="1337266"/>
            <a:ext cx="8237243" cy="4572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3259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B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2241"/>
            <a:ext cx="18288000" cy="10287000"/>
          </a:xfrm>
          <a:prstGeom prst="rect">
            <a:avLst/>
          </a:prstGeom>
          <a:solidFill>
            <a:srgbClr val="F5F2F1"/>
          </a:solidFill>
        </p:spPr>
        <p:txBody>
          <a:bodyPr/>
          <a:lstStyle/>
          <a:p>
            <a:endParaRPr lang="en-C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FBE2D88-80A1-79B2-BD61-3E170F2D091B}"/>
              </a:ext>
            </a:extLst>
          </p:cNvPr>
          <p:cNvSpPr txBox="1"/>
          <p:nvPr/>
        </p:nvSpPr>
        <p:spPr>
          <a:xfrm>
            <a:off x="990600" y="3086100"/>
            <a:ext cx="17487112" cy="4664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1E2761"/>
                </a:solidFill>
                <a:latin typeface="Calibri"/>
              </a:rPr>
              <a:t>OUR RESEARCH QUESTION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B319EAE-F3AA-7722-D2D5-9159F9699B91}"/>
              </a:ext>
            </a:extLst>
          </p:cNvPr>
          <p:cNvSpPr txBox="1"/>
          <p:nvPr/>
        </p:nvSpPr>
        <p:spPr>
          <a:xfrm>
            <a:off x="990600" y="3543300"/>
            <a:ext cx="17190720" cy="22229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6000" b="1" dirty="0">
                <a:solidFill>
                  <a:srgbClr val="21295C"/>
                </a:solidFill>
                <a:latin typeface="Calibri"/>
              </a:rPr>
              <a:t>Does where you work — remote, hybrid, or on-site —</a:t>
            </a:r>
          </a:p>
          <a:p>
            <a:pPr algn="l">
              <a:lnSpc>
                <a:spcPct val="125000"/>
              </a:lnSpc>
            </a:pPr>
            <a:r>
              <a:rPr sz="6000" b="1" dirty="0">
                <a:solidFill>
                  <a:srgbClr val="21295C"/>
                </a:solidFill>
                <a:latin typeface="Calibri"/>
              </a:rPr>
              <a:t>actually change how satisfied you are?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50BA45-64E2-D86A-BB54-E8D4FA6740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5182D0EC-7186-A966-4799-E6116832CC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724"/>
            <a:ext cx="18288000" cy="10287000"/>
          </a:xfrm>
          <a:prstGeom prst="rect">
            <a:avLst/>
          </a:prstGeom>
          <a:solidFill>
            <a:srgbClr val="F5F2F1"/>
          </a:solidFill>
        </p:spPr>
        <p:txBody>
          <a:bodyPr/>
          <a:lstStyle/>
          <a:p>
            <a:endParaRPr lang="en-CN" sz="16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E93AECF-DCB6-5078-B993-E0367CD3B4AD}"/>
              </a:ext>
            </a:extLst>
          </p:cNvPr>
          <p:cNvSpPr txBox="1"/>
          <p:nvPr/>
        </p:nvSpPr>
        <p:spPr>
          <a:xfrm>
            <a:off x="548640" y="548640"/>
            <a:ext cx="10058400" cy="333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dirty="0">
                <a:solidFill>
                  <a:srgbClr val="1E2761"/>
                </a:solidFill>
                <a:latin typeface="Calibri"/>
              </a:rPr>
              <a:t>WHAT WE WORKED WITH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7F2FD6E-7B81-B55C-7DF5-049E283E83F1}"/>
              </a:ext>
            </a:extLst>
          </p:cNvPr>
          <p:cNvSpPr txBox="1"/>
          <p:nvPr/>
        </p:nvSpPr>
        <p:spPr>
          <a:xfrm>
            <a:off x="548640" y="951422"/>
            <a:ext cx="10972800" cy="86837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5400" b="1" dirty="0">
                <a:solidFill>
                  <a:srgbClr val="21295C"/>
                </a:solidFill>
                <a:latin typeface="Calibri"/>
              </a:rPr>
              <a:t>The data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A08B034-FE32-669B-6EBE-9A6F73772DE7}"/>
              </a:ext>
            </a:extLst>
          </p:cNvPr>
          <p:cNvSpPr txBox="1"/>
          <p:nvPr/>
        </p:nvSpPr>
        <p:spPr>
          <a:xfrm>
            <a:off x="1318260" y="2654414"/>
            <a:ext cx="5623560" cy="229883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800" b="1" dirty="0">
                <a:solidFill>
                  <a:srgbClr val="1E2761"/>
                </a:solidFill>
                <a:latin typeface="Calibri"/>
              </a:rPr>
              <a:t>646K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5C479FE-91AB-3769-AC31-9C7064D329BC}"/>
              </a:ext>
            </a:extLst>
          </p:cNvPr>
          <p:cNvSpPr txBox="1"/>
          <p:nvPr/>
        </p:nvSpPr>
        <p:spPr>
          <a:xfrm>
            <a:off x="1301675" y="5067205"/>
            <a:ext cx="5623560" cy="5330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3200" b="1" dirty="0">
                <a:solidFill>
                  <a:srgbClr val="21295C"/>
                </a:solidFill>
                <a:latin typeface="Calibri"/>
              </a:rPr>
              <a:t>respondents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47E7682-3421-E2D4-CF2C-20CAC69B59D1}"/>
              </a:ext>
            </a:extLst>
          </p:cNvPr>
          <p:cNvSpPr txBox="1"/>
          <p:nvPr/>
        </p:nvSpPr>
        <p:spPr>
          <a:xfrm>
            <a:off x="6629401" y="2602556"/>
            <a:ext cx="5623560" cy="229883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800" b="1" dirty="0">
                <a:solidFill>
                  <a:srgbClr val="1E2761"/>
                </a:solidFill>
                <a:latin typeface="Calibri"/>
              </a:rPr>
              <a:t>36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9327D08-1DEF-44D4-99C6-D2FB5382CAA8}"/>
              </a:ext>
            </a:extLst>
          </p:cNvPr>
          <p:cNvSpPr txBox="1"/>
          <p:nvPr/>
        </p:nvSpPr>
        <p:spPr>
          <a:xfrm>
            <a:off x="6629401" y="5087760"/>
            <a:ext cx="5623560" cy="5330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3200" b="1" dirty="0">
                <a:solidFill>
                  <a:srgbClr val="21295C"/>
                </a:solidFill>
                <a:latin typeface="Calibri"/>
              </a:rPr>
              <a:t>agencies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A84913E-D18F-28FB-BD58-0FB25EB650BA}"/>
              </a:ext>
            </a:extLst>
          </p:cNvPr>
          <p:cNvSpPr txBox="1"/>
          <p:nvPr/>
        </p:nvSpPr>
        <p:spPr>
          <a:xfrm>
            <a:off x="11658600" y="2532942"/>
            <a:ext cx="5623560" cy="229883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800" b="1">
                <a:solidFill>
                  <a:srgbClr val="1E2761"/>
                </a:solidFill>
                <a:latin typeface="Calibri"/>
              </a:rPr>
              <a:t>96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6008343-3BFB-95D3-E63C-FEF86B0B5B51}"/>
              </a:ext>
            </a:extLst>
          </p:cNvPr>
          <p:cNvSpPr txBox="1"/>
          <p:nvPr/>
        </p:nvSpPr>
        <p:spPr>
          <a:xfrm>
            <a:off x="11658600" y="5035902"/>
            <a:ext cx="5623560" cy="5330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3200" b="1" dirty="0">
                <a:solidFill>
                  <a:srgbClr val="21295C"/>
                </a:solidFill>
                <a:latin typeface="Calibri"/>
              </a:rPr>
              <a:t>questions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C5F4CFE-5297-9DB7-D332-52AEBF19F822}"/>
              </a:ext>
            </a:extLst>
          </p:cNvPr>
          <p:cNvSpPr txBox="1"/>
          <p:nvPr/>
        </p:nvSpPr>
        <p:spPr>
          <a:xfrm>
            <a:off x="1127759" y="6173064"/>
            <a:ext cx="6461761" cy="6910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b="0" dirty="0">
                <a:solidFill>
                  <a:srgbClr val="6B738D"/>
                </a:solidFill>
                <a:latin typeface="Calibri"/>
              </a:rPr>
              <a:t>Every federal employee who responded</a:t>
            </a:r>
          </a:p>
          <a:p>
            <a:pPr algn="ctr">
              <a:lnSpc>
                <a:spcPct val="130000"/>
              </a:lnSpc>
            </a:pPr>
            <a:r>
              <a:rPr b="0" dirty="0">
                <a:solidFill>
                  <a:srgbClr val="6B738D"/>
                </a:solidFill>
                <a:latin typeface="Calibri"/>
              </a:rPr>
              <a:t>to the 2024 viewpoint survey.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1790ACC-FA9A-3AE7-EE63-3F087AFCF94B}"/>
              </a:ext>
            </a:extLst>
          </p:cNvPr>
          <p:cNvSpPr txBox="1"/>
          <p:nvPr/>
        </p:nvSpPr>
        <p:spPr>
          <a:xfrm>
            <a:off x="7616191" y="6201194"/>
            <a:ext cx="3649979" cy="6910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b="0" dirty="0">
                <a:solidFill>
                  <a:srgbClr val="6B738D"/>
                </a:solidFill>
                <a:latin typeface="Calibri"/>
              </a:rPr>
              <a:t>From cabinet departments to small</a:t>
            </a:r>
          </a:p>
          <a:p>
            <a:pPr algn="ctr">
              <a:lnSpc>
                <a:spcPct val="130000"/>
              </a:lnSpc>
            </a:pPr>
            <a:r>
              <a:rPr b="0" dirty="0">
                <a:solidFill>
                  <a:srgbClr val="6B738D"/>
                </a:solidFill>
                <a:latin typeface="Calibri"/>
              </a:rPr>
              <a:t>independent agencies.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9976DED-3D35-4C93-D2D6-9E4B86E5E934}"/>
              </a:ext>
            </a:extLst>
          </p:cNvPr>
          <p:cNvSpPr txBox="1"/>
          <p:nvPr/>
        </p:nvSpPr>
        <p:spPr>
          <a:xfrm>
            <a:off x="12595355" y="6173064"/>
            <a:ext cx="4318635" cy="6910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b="0" dirty="0">
                <a:solidFill>
                  <a:srgbClr val="6B738D"/>
                </a:solidFill>
                <a:latin typeface="Calibri"/>
              </a:rPr>
              <a:t>Job satisfaction, engagement,</a:t>
            </a:r>
          </a:p>
          <a:p>
            <a:pPr algn="ctr">
              <a:lnSpc>
                <a:spcPct val="130000"/>
              </a:lnSpc>
            </a:pPr>
            <a:r>
              <a:rPr b="0" dirty="0">
                <a:solidFill>
                  <a:srgbClr val="6B738D"/>
                </a:solidFill>
                <a:latin typeface="Calibri"/>
              </a:rPr>
              <a:t>work-life balance, demographics.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61C20BA-47AA-C4DD-9668-E960D59ABFF4}"/>
              </a:ext>
            </a:extLst>
          </p:cNvPr>
          <p:cNvSpPr txBox="1"/>
          <p:nvPr/>
        </p:nvSpPr>
        <p:spPr>
          <a:xfrm>
            <a:off x="914400" y="8633521"/>
            <a:ext cx="10972800" cy="333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 dirty="0">
                <a:solidFill>
                  <a:srgbClr val="6B738D"/>
                </a:solidFill>
                <a:latin typeface="Calibri"/>
              </a:rPr>
              <a:t>Source: U.S. Office of Personnel Management — Public Release Data File</a:t>
            </a:r>
          </a:p>
        </p:txBody>
      </p:sp>
    </p:spTree>
    <p:extLst>
      <p:ext uri="{BB962C8B-B14F-4D97-AF65-F5344CB8AC3E}">
        <p14:creationId xmlns:p14="http://schemas.microsoft.com/office/powerpoint/2010/main" val="12596200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BA52BB-733F-00E0-DEF7-5A627BEF8B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EBA2DDB1-8076-5460-E7B1-758D13ABC2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20171"/>
            <a:ext cx="18288000" cy="10287000"/>
          </a:xfrm>
          <a:prstGeom prst="rect">
            <a:avLst/>
          </a:prstGeom>
          <a:solidFill>
            <a:srgbClr val="F5F2F1"/>
          </a:solidFill>
        </p:spPr>
        <p:txBody>
          <a:bodyPr/>
          <a:lstStyle/>
          <a:p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8D47D10-16FF-A0EC-F245-89C13824EAF3}"/>
              </a:ext>
            </a:extLst>
          </p:cNvPr>
          <p:cNvSpPr txBox="1"/>
          <p:nvPr/>
        </p:nvSpPr>
        <p:spPr>
          <a:xfrm>
            <a:off x="548640" y="548640"/>
            <a:ext cx="10058400" cy="333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dirty="0">
                <a:solidFill>
                  <a:srgbClr val="1E2761"/>
                </a:solidFill>
                <a:latin typeface="Calibri"/>
              </a:rPr>
              <a:t>APPROACH</a:t>
            </a:r>
            <a:endParaRPr sz="1600" b="1" dirty="0">
              <a:solidFill>
                <a:srgbClr val="1E2761"/>
              </a:solidFill>
              <a:latin typeface="Calibri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497EF61-952A-B5C0-EC3A-2CB41F4AABA5}"/>
              </a:ext>
            </a:extLst>
          </p:cNvPr>
          <p:cNvSpPr txBox="1"/>
          <p:nvPr/>
        </p:nvSpPr>
        <p:spPr>
          <a:xfrm>
            <a:off x="548640" y="1108821"/>
            <a:ext cx="10972800" cy="7075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4400" b="1" dirty="0">
                <a:solidFill>
                  <a:srgbClr val="21295C"/>
                </a:solidFill>
                <a:latin typeface="Calibri"/>
              </a:rPr>
              <a:t>We built the model in four steps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F3E587A-5D2C-C151-2E54-11DD852C9C62}"/>
              </a:ext>
            </a:extLst>
          </p:cNvPr>
          <p:cNvSpPr txBox="1"/>
          <p:nvPr/>
        </p:nvSpPr>
        <p:spPr>
          <a:xfrm>
            <a:off x="562087" y="2247900"/>
            <a:ext cx="10972800" cy="333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 dirty="0">
                <a:solidFill>
                  <a:srgbClr val="6B738D"/>
                </a:solidFill>
                <a:latin typeface="Calibri"/>
              </a:rPr>
              <a:t>Each step adds one ingredient and shows how much more it explains.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4A910349-84A4-BAA6-464D-CA86FB8AA9C5}"/>
              </a:ext>
            </a:extLst>
          </p:cNvPr>
          <p:cNvSpPr txBox="1"/>
          <p:nvPr/>
        </p:nvSpPr>
        <p:spPr>
          <a:xfrm>
            <a:off x="535193" y="3482641"/>
            <a:ext cx="4534053" cy="53309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3200" b="1">
                <a:latin typeface="Calibri"/>
              </a:rPr>
              <a:t>1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77AA778-9F4F-C795-5C26-E86407FFBF67}"/>
              </a:ext>
            </a:extLst>
          </p:cNvPr>
          <p:cNvSpPr txBox="1"/>
          <p:nvPr/>
        </p:nvSpPr>
        <p:spPr>
          <a:xfrm>
            <a:off x="4592018" y="3463369"/>
            <a:ext cx="4534053" cy="53309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3200" b="1" dirty="0">
                <a:latin typeface="Calibri"/>
              </a:rPr>
              <a:t>2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F03DDF2C-6BBE-F221-152F-2962A95B227E}"/>
              </a:ext>
            </a:extLst>
          </p:cNvPr>
          <p:cNvSpPr txBox="1"/>
          <p:nvPr/>
        </p:nvSpPr>
        <p:spPr>
          <a:xfrm>
            <a:off x="9018340" y="3484582"/>
            <a:ext cx="4534053" cy="53309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3200" b="1" dirty="0">
                <a:latin typeface="Calibri"/>
              </a:rPr>
              <a:t>3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4EDE3BA-70D0-2512-532F-A05BEB635A91}"/>
              </a:ext>
            </a:extLst>
          </p:cNvPr>
          <p:cNvSpPr txBox="1"/>
          <p:nvPr/>
        </p:nvSpPr>
        <p:spPr>
          <a:xfrm>
            <a:off x="12967434" y="3505795"/>
            <a:ext cx="4534053" cy="53309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3200" b="1">
                <a:latin typeface="Calibri"/>
              </a:rPr>
              <a:t>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794B1EC-6ECB-4C3F-08AC-1AA6532BDF47}"/>
              </a:ext>
            </a:extLst>
          </p:cNvPr>
          <p:cNvSpPr txBox="1"/>
          <p:nvPr/>
        </p:nvSpPr>
        <p:spPr>
          <a:xfrm>
            <a:off x="442846" y="4607699"/>
            <a:ext cx="4534053" cy="5330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3200" b="1" dirty="0">
                <a:solidFill>
                  <a:srgbClr val="21295C"/>
                </a:solidFill>
                <a:latin typeface="Calibri"/>
              </a:rPr>
              <a:t>Telework only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27BC51BD-1B4A-84C5-2A87-05DF4BE19E70}"/>
              </a:ext>
            </a:extLst>
          </p:cNvPr>
          <p:cNvSpPr txBox="1"/>
          <p:nvPr/>
        </p:nvSpPr>
        <p:spPr>
          <a:xfrm>
            <a:off x="4905480" y="4654643"/>
            <a:ext cx="4000500" cy="5330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3200" b="1" dirty="0">
                <a:solidFill>
                  <a:srgbClr val="21295C"/>
                </a:solidFill>
                <a:latin typeface="Calibri"/>
              </a:rPr>
              <a:t>+ Work-life balance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90794E4D-6F79-9681-ED68-06A3CEC62216}"/>
              </a:ext>
            </a:extLst>
          </p:cNvPr>
          <p:cNvSpPr txBox="1"/>
          <p:nvPr/>
        </p:nvSpPr>
        <p:spPr>
          <a:xfrm>
            <a:off x="9696665" y="4654643"/>
            <a:ext cx="3177402" cy="5330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3200" b="1" dirty="0">
                <a:solidFill>
                  <a:srgbClr val="21295C"/>
                </a:solidFill>
                <a:latin typeface="Calibri"/>
              </a:rPr>
              <a:t>+ Engagement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6C6C1C6B-088D-E9CD-8307-B2B70A31E537}"/>
              </a:ext>
            </a:extLst>
          </p:cNvPr>
          <p:cNvSpPr txBox="1"/>
          <p:nvPr/>
        </p:nvSpPr>
        <p:spPr>
          <a:xfrm>
            <a:off x="13811460" y="4607699"/>
            <a:ext cx="2846000" cy="5330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3200" b="1" dirty="0">
                <a:solidFill>
                  <a:srgbClr val="21295C"/>
                </a:solidFill>
                <a:latin typeface="Calibri"/>
              </a:rPr>
              <a:t>+ Demographics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AF800226-D1AF-E241-EBE5-35F6945470B8}"/>
              </a:ext>
            </a:extLst>
          </p:cNvPr>
          <p:cNvSpPr txBox="1"/>
          <p:nvPr/>
        </p:nvSpPr>
        <p:spPr>
          <a:xfrm>
            <a:off x="195715" y="5745745"/>
            <a:ext cx="5028314" cy="36779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2000" b="0" dirty="0">
                <a:solidFill>
                  <a:srgbClr val="6B738D"/>
                </a:solidFill>
                <a:latin typeface="Calibri"/>
              </a:rPr>
              <a:t>Where you work.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751E103F-A21A-0A71-7887-265B2E9FDEF9}"/>
              </a:ext>
            </a:extLst>
          </p:cNvPr>
          <p:cNvSpPr txBox="1"/>
          <p:nvPr/>
        </p:nvSpPr>
        <p:spPr>
          <a:xfrm>
            <a:off x="4954044" y="5779701"/>
            <a:ext cx="3810000" cy="36779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2000" b="0" dirty="0">
                <a:solidFill>
                  <a:srgbClr val="6B738D"/>
                </a:solidFill>
                <a:latin typeface="Calibri"/>
              </a:rPr>
              <a:t>Do you have time for life?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208F591F-5000-6368-58F3-5416E5CA37AE}"/>
              </a:ext>
            </a:extLst>
          </p:cNvPr>
          <p:cNvSpPr txBox="1"/>
          <p:nvPr/>
        </p:nvSpPr>
        <p:spPr>
          <a:xfrm>
            <a:off x="9532923" y="5779701"/>
            <a:ext cx="3699587" cy="36779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2000" b="0" dirty="0">
                <a:solidFill>
                  <a:srgbClr val="6B738D"/>
                </a:solidFill>
                <a:latin typeface="Calibri"/>
              </a:rPr>
              <a:t>Are you energized by your work?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8DE20130-244E-2E48-C615-2A281B2CABAA}"/>
              </a:ext>
            </a:extLst>
          </p:cNvPr>
          <p:cNvSpPr txBox="1"/>
          <p:nvPr/>
        </p:nvSpPr>
        <p:spPr>
          <a:xfrm>
            <a:off x="13522373" y="5745745"/>
            <a:ext cx="3932245" cy="36779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2000" b="0" dirty="0">
                <a:solidFill>
                  <a:srgbClr val="6B738D"/>
                </a:solidFill>
                <a:latin typeface="Calibri"/>
              </a:rPr>
              <a:t>Age, gender, tenure, supervisor.</a:t>
            </a:r>
          </a:p>
        </p:txBody>
      </p:sp>
    </p:spTree>
    <p:extLst>
      <p:ext uri="{BB962C8B-B14F-4D97-AF65-F5344CB8AC3E}">
        <p14:creationId xmlns:p14="http://schemas.microsoft.com/office/powerpoint/2010/main" val="12168307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BB08A4-3F47-EE1C-F36E-2EEB9809B9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C08EE7B1-C0F7-E4DE-4A45-A9EE3B6EA8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5F2F1"/>
          </a:solidFill>
        </p:spPr>
        <p:txBody>
          <a:bodyPr/>
          <a:lstStyle/>
          <a:p>
            <a:endParaRPr lang="en-C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B3AD112-26AD-2A28-31E3-658F366AAC85}"/>
              </a:ext>
            </a:extLst>
          </p:cNvPr>
          <p:cNvSpPr txBox="1"/>
          <p:nvPr/>
        </p:nvSpPr>
        <p:spPr>
          <a:xfrm>
            <a:off x="548640" y="548640"/>
            <a:ext cx="10058400" cy="2664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dirty="0">
                <a:solidFill>
                  <a:srgbClr val="1E2761"/>
                </a:solidFill>
                <a:latin typeface="Calibri"/>
              </a:rPr>
              <a:t>FINDING 1 — SURFACE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C686940-ADD1-9941-36FE-3F6616F96D83}"/>
              </a:ext>
            </a:extLst>
          </p:cNvPr>
          <p:cNvSpPr txBox="1"/>
          <p:nvPr/>
        </p:nvSpPr>
        <p:spPr>
          <a:xfrm>
            <a:off x="548640" y="960120"/>
            <a:ext cx="10972800" cy="6432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4000" b="1" dirty="0">
                <a:solidFill>
                  <a:srgbClr val="21295C"/>
                </a:solidFill>
                <a:latin typeface="Calibri"/>
              </a:rPr>
              <a:t>At first glance, remote workers look more satisfied</a:t>
            </a:r>
          </a:p>
        </p:txBody>
      </p:sp>
      <p:pic>
        <p:nvPicPr>
          <p:cNvPr id="11" name="Picture 10" descr="02_telework_raw_gap.png">
            <a:extLst>
              <a:ext uri="{FF2B5EF4-FFF2-40B4-BE49-F238E27FC236}">
                <a16:creationId xmlns:a16="http://schemas.microsoft.com/office/drawing/2014/main" id="{397B3683-97B6-D648-D826-1D80704880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122" y="2563493"/>
            <a:ext cx="11392995" cy="63246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C2C2502B-D134-71C8-4BB2-7421D75ADD20}"/>
              </a:ext>
            </a:extLst>
          </p:cNvPr>
          <p:cNvSpPr txBox="1"/>
          <p:nvPr/>
        </p:nvSpPr>
        <p:spPr>
          <a:xfrm>
            <a:off x="13106400" y="3357765"/>
            <a:ext cx="3291840" cy="333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dirty="0">
                <a:solidFill>
                  <a:srgbClr val="1E2761"/>
                </a:solidFill>
                <a:latin typeface="Calibri"/>
              </a:rPr>
              <a:t>THE GAP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93468DF-48CA-699C-052C-4261B02B86CD}"/>
              </a:ext>
            </a:extLst>
          </p:cNvPr>
          <p:cNvSpPr txBox="1"/>
          <p:nvPr/>
        </p:nvSpPr>
        <p:spPr>
          <a:xfrm>
            <a:off x="13083988" y="3872753"/>
            <a:ext cx="3291840" cy="229883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800" b="1" dirty="0">
                <a:solidFill>
                  <a:srgbClr val="1E2761"/>
                </a:solidFill>
                <a:latin typeface="Calibri"/>
              </a:rPr>
              <a:t>0.40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4982EA2-3C39-BD78-9884-2B76433775F7}"/>
              </a:ext>
            </a:extLst>
          </p:cNvPr>
          <p:cNvSpPr txBox="1"/>
          <p:nvPr/>
        </p:nvSpPr>
        <p:spPr>
          <a:xfrm>
            <a:off x="13106400" y="6353408"/>
            <a:ext cx="3291840" cy="9214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0" dirty="0">
                <a:solidFill>
                  <a:srgbClr val="21295C"/>
                </a:solidFill>
                <a:latin typeface="Calibri"/>
              </a:rPr>
              <a:t>points on the 5-point</a:t>
            </a:r>
          </a:p>
          <a:p>
            <a:pPr algn="l">
              <a:lnSpc>
                <a:spcPct val="130000"/>
              </a:lnSpc>
            </a:pPr>
            <a:r>
              <a:rPr sz="2400" b="0" dirty="0">
                <a:solidFill>
                  <a:srgbClr val="21295C"/>
                </a:solidFill>
                <a:latin typeface="Calibri"/>
              </a:rPr>
              <a:t>satisfaction scale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63BDC40-4222-5481-DFC8-482B97DC4B21}"/>
              </a:ext>
            </a:extLst>
          </p:cNvPr>
          <p:cNvSpPr txBox="1"/>
          <p:nvPr/>
        </p:nvSpPr>
        <p:spPr>
          <a:xfrm>
            <a:off x="13110882" y="7415145"/>
            <a:ext cx="3291840" cy="76790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 dirty="0">
                <a:solidFill>
                  <a:srgbClr val="6B738D"/>
                </a:solidFill>
                <a:latin typeface="Calibri"/>
              </a:rPr>
              <a:t>Routine remote (3.94)</a:t>
            </a:r>
          </a:p>
          <a:p>
            <a:pPr algn="l">
              <a:lnSpc>
                <a:spcPct val="130000"/>
              </a:lnSpc>
            </a:pPr>
            <a:r>
              <a:rPr sz="2000" b="0" dirty="0">
                <a:solidFill>
                  <a:srgbClr val="6B738D"/>
                </a:solidFill>
                <a:latin typeface="Calibri"/>
              </a:rPr>
              <a:t>vs. required on-site (3.54)</a:t>
            </a:r>
          </a:p>
        </p:txBody>
      </p:sp>
    </p:spTree>
    <p:extLst>
      <p:ext uri="{BB962C8B-B14F-4D97-AF65-F5344CB8AC3E}">
        <p14:creationId xmlns:p14="http://schemas.microsoft.com/office/powerpoint/2010/main" val="16855157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3BEA61-2DC9-5294-39C5-6D9357D3BD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1051FEFC-C338-2712-ABF7-DA710EB967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-29135"/>
            <a:ext cx="18288000" cy="10287000"/>
          </a:xfrm>
          <a:prstGeom prst="rect">
            <a:avLst/>
          </a:prstGeom>
          <a:solidFill>
            <a:srgbClr val="F5F2F1"/>
          </a:solidFill>
        </p:spPr>
        <p:txBody>
          <a:bodyPr/>
          <a:lstStyle/>
          <a:p>
            <a:endParaRPr lang="en-C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FDC0997-5EB7-FCAD-73A7-94413DACA920}"/>
              </a:ext>
            </a:extLst>
          </p:cNvPr>
          <p:cNvSpPr txBox="1"/>
          <p:nvPr/>
        </p:nvSpPr>
        <p:spPr>
          <a:xfrm>
            <a:off x="548640" y="548640"/>
            <a:ext cx="10058400" cy="29982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b="1" dirty="0">
                <a:solidFill>
                  <a:srgbClr val="1E2761"/>
                </a:solidFill>
                <a:latin typeface="Calibri"/>
              </a:rPr>
              <a:t>FINDING 1 — THE TWIST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8898D12-9D48-595B-9BA1-DF5555B5F50A}"/>
              </a:ext>
            </a:extLst>
          </p:cNvPr>
          <p:cNvSpPr txBox="1"/>
          <p:nvPr/>
        </p:nvSpPr>
        <p:spPr>
          <a:xfrm>
            <a:off x="548640" y="1072458"/>
            <a:ext cx="10972800" cy="7075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4400" b="1" dirty="0">
                <a:solidFill>
                  <a:srgbClr val="21295C"/>
                </a:solidFill>
                <a:latin typeface="Calibri"/>
              </a:rPr>
              <a:t>…but that's not the whole story</a:t>
            </a:r>
          </a:p>
        </p:txBody>
      </p:sp>
      <p:pic>
        <p:nvPicPr>
          <p:cNvPr id="7" name="Picture 6" descr="04_simpsons_paradox.png">
            <a:extLst>
              <a:ext uri="{FF2B5EF4-FFF2-40B4-BE49-F238E27FC236}">
                <a16:creationId xmlns:a16="http://schemas.microsoft.com/office/drawing/2014/main" id="{BBAD3102-266C-C12D-6481-48A490A995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39" y="2476500"/>
            <a:ext cx="11825889" cy="65532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242E43C-3693-89F5-BDEC-96F1E9BEC0DD}"/>
              </a:ext>
            </a:extLst>
          </p:cNvPr>
          <p:cNvSpPr txBox="1"/>
          <p:nvPr/>
        </p:nvSpPr>
        <p:spPr>
          <a:xfrm>
            <a:off x="13685344" y="3095105"/>
            <a:ext cx="3291840" cy="2664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dirty="0">
                <a:solidFill>
                  <a:srgbClr val="FFC107"/>
                </a:solidFill>
                <a:latin typeface="Calibri"/>
              </a:rPr>
              <a:t>WHAT HAPPENED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55A2AFB-0B4E-691D-8149-A5DEC4C589A8}"/>
              </a:ext>
            </a:extLst>
          </p:cNvPr>
          <p:cNvSpPr txBox="1"/>
          <p:nvPr/>
        </p:nvSpPr>
        <p:spPr>
          <a:xfrm>
            <a:off x="13685344" y="3581915"/>
            <a:ext cx="3291840" cy="17334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200" b="1" dirty="0">
                <a:solidFill>
                  <a:schemeClr val="tx2">
                    <a:lumMod val="75000"/>
                  </a:schemeClr>
                </a:solidFill>
                <a:latin typeface="Calibri"/>
              </a:rPr>
              <a:t>The telework</a:t>
            </a:r>
          </a:p>
          <a:p>
            <a:pPr algn="l">
              <a:lnSpc>
                <a:spcPct val="120000"/>
              </a:lnSpc>
            </a:pPr>
            <a:r>
              <a:rPr sz="3200" b="1" dirty="0">
                <a:solidFill>
                  <a:schemeClr val="tx2">
                    <a:lumMod val="75000"/>
                  </a:schemeClr>
                </a:solidFill>
                <a:latin typeface="Calibri"/>
              </a:rPr>
              <a:t>effect flipped</a:t>
            </a:r>
          </a:p>
          <a:p>
            <a:pPr algn="l">
              <a:lnSpc>
                <a:spcPct val="120000"/>
              </a:lnSpc>
            </a:pPr>
            <a:r>
              <a:rPr sz="3200" b="1" dirty="0">
                <a:solidFill>
                  <a:schemeClr val="tx2">
                    <a:lumMod val="75000"/>
                  </a:schemeClr>
                </a:solidFill>
                <a:latin typeface="Calibri"/>
              </a:rPr>
              <a:t>sign.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D8A66B3-73AA-FF20-3AFB-9E29D11547FA}"/>
              </a:ext>
            </a:extLst>
          </p:cNvPr>
          <p:cNvSpPr txBox="1"/>
          <p:nvPr/>
        </p:nvSpPr>
        <p:spPr>
          <a:xfrm>
            <a:off x="13685344" y="5535665"/>
            <a:ext cx="3291840" cy="229787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0" dirty="0">
                <a:solidFill>
                  <a:schemeClr val="tx2"/>
                </a:solidFill>
                <a:latin typeface="Calibri"/>
              </a:rPr>
              <a:t>Once we account for engagement</a:t>
            </a:r>
          </a:p>
          <a:p>
            <a:pPr algn="l">
              <a:lnSpc>
                <a:spcPct val="135000"/>
              </a:lnSpc>
            </a:pPr>
            <a:r>
              <a:rPr sz="1600" b="0" dirty="0">
                <a:solidFill>
                  <a:schemeClr val="tx2"/>
                </a:solidFill>
                <a:latin typeface="Calibri"/>
              </a:rPr>
              <a:t>and work-life balance, being</a:t>
            </a:r>
          </a:p>
          <a:p>
            <a:pPr algn="l">
              <a:lnSpc>
                <a:spcPct val="135000"/>
              </a:lnSpc>
            </a:pPr>
            <a:r>
              <a:rPr sz="1600" b="0" dirty="0">
                <a:solidFill>
                  <a:schemeClr val="tx2"/>
                </a:solidFill>
                <a:latin typeface="Calibri"/>
              </a:rPr>
              <a:t>required on-site goes from</a:t>
            </a:r>
          </a:p>
          <a:p>
            <a:pPr algn="l">
              <a:lnSpc>
                <a:spcPct val="135000"/>
              </a:lnSpc>
            </a:pPr>
            <a:r>
              <a:rPr sz="1600" b="0" dirty="0">
                <a:solidFill>
                  <a:schemeClr val="tx2"/>
                </a:solidFill>
                <a:latin typeface="Calibri"/>
              </a:rPr>
              <a:t>−0.40 to slightly positive.</a:t>
            </a:r>
          </a:p>
          <a:p>
            <a:pPr algn="l">
              <a:lnSpc>
                <a:spcPct val="135000"/>
              </a:lnSpc>
            </a:pPr>
            <a:endParaRPr sz="1600" b="0" dirty="0">
              <a:solidFill>
                <a:schemeClr val="tx2"/>
              </a:solidFill>
              <a:latin typeface="Calibri"/>
            </a:endParaRPr>
          </a:p>
          <a:p>
            <a:pPr algn="l">
              <a:lnSpc>
                <a:spcPct val="135000"/>
              </a:lnSpc>
            </a:pPr>
            <a:r>
              <a:rPr sz="1600" b="0" dirty="0">
                <a:solidFill>
                  <a:schemeClr val="tx2"/>
                </a:solidFill>
                <a:latin typeface="Calibri"/>
              </a:rPr>
              <a:t>The original gap wasn't really</a:t>
            </a:r>
          </a:p>
          <a:p>
            <a:pPr algn="l">
              <a:lnSpc>
                <a:spcPct val="135000"/>
              </a:lnSpc>
            </a:pPr>
            <a:r>
              <a:rPr sz="1600" b="0" dirty="0">
                <a:solidFill>
                  <a:schemeClr val="tx2"/>
                </a:solidFill>
                <a:latin typeface="Calibri"/>
              </a:rPr>
              <a:t>about where people work.</a:t>
            </a:r>
          </a:p>
        </p:txBody>
      </p:sp>
    </p:spTree>
    <p:extLst>
      <p:ext uri="{BB962C8B-B14F-4D97-AF65-F5344CB8AC3E}">
        <p14:creationId xmlns:p14="http://schemas.microsoft.com/office/powerpoint/2010/main" val="16913349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830BEA-5CCA-D27A-D06B-18ED551EB5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4136074C-8435-AC60-FBCA-C5AD87A04E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-20171"/>
            <a:ext cx="18288000" cy="10287000"/>
          </a:xfrm>
          <a:prstGeom prst="rect">
            <a:avLst/>
          </a:prstGeom>
          <a:solidFill>
            <a:srgbClr val="F5F2F1"/>
          </a:solidFill>
        </p:spPr>
        <p:txBody>
          <a:bodyPr/>
          <a:lstStyle/>
          <a:p>
            <a:endParaRPr lang="en-C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82FAC42-1C17-947D-A1FF-2CE73934C99C}"/>
              </a:ext>
            </a:extLst>
          </p:cNvPr>
          <p:cNvSpPr txBox="1"/>
          <p:nvPr/>
        </p:nvSpPr>
        <p:spPr>
          <a:xfrm>
            <a:off x="548640" y="548640"/>
            <a:ext cx="10058400" cy="2664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dirty="0">
                <a:solidFill>
                  <a:srgbClr val="1E2761"/>
                </a:solidFill>
                <a:latin typeface="Calibri"/>
              </a:rPr>
              <a:t>FINDING 2 — WHAT ACTUALLY MATTERS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B682BD1-D9AE-F081-FDEC-19D2A95ED84E}"/>
              </a:ext>
            </a:extLst>
          </p:cNvPr>
          <p:cNvSpPr txBox="1"/>
          <p:nvPr/>
        </p:nvSpPr>
        <p:spPr>
          <a:xfrm>
            <a:off x="548640" y="1042136"/>
            <a:ext cx="10972800" cy="6432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4000" b="1" dirty="0">
                <a:solidFill>
                  <a:srgbClr val="21295C"/>
                </a:solidFill>
                <a:latin typeface="Calibri"/>
              </a:rPr>
              <a:t>Engagement explains the variation, not telework</a:t>
            </a:r>
          </a:p>
        </p:txBody>
      </p:sp>
      <p:pic>
        <p:nvPicPr>
          <p:cNvPr id="8" name="Picture 7" descr="03_r2_progression.png">
            <a:extLst>
              <a:ext uri="{FF2B5EF4-FFF2-40B4-BE49-F238E27FC236}">
                <a16:creationId xmlns:a16="http://schemas.microsoft.com/office/drawing/2014/main" id="{0368F968-B3CF-E45D-ACC8-BDDC0FE337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247900"/>
            <a:ext cx="12618662" cy="6996964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D8C6A9D4-5B4E-B9D8-9579-184B5E400464}"/>
              </a:ext>
            </a:extLst>
          </p:cNvPr>
          <p:cNvSpPr txBox="1"/>
          <p:nvPr/>
        </p:nvSpPr>
        <p:spPr>
          <a:xfrm>
            <a:off x="13994029" y="2948940"/>
            <a:ext cx="3108960" cy="999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0" b="1">
                <a:solidFill>
                  <a:srgbClr val="1E2761"/>
                </a:solidFill>
                <a:latin typeface="Calibri"/>
              </a:rPr>
              <a:t>2%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DBD54A6-CF47-E965-CC09-920C66CF06CA}"/>
              </a:ext>
            </a:extLst>
          </p:cNvPr>
          <p:cNvSpPr txBox="1"/>
          <p:nvPr/>
        </p:nvSpPr>
        <p:spPr>
          <a:xfrm>
            <a:off x="13994029" y="3929274"/>
            <a:ext cx="3108960" cy="29982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b="0" dirty="0">
                <a:solidFill>
                  <a:srgbClr val="21295C"/>
                </a:solidFill>
                <a:latin typeface="Calibri"/>
              </a:rPr>
              <a:t>Telework alone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7E6DF4D-9624-63AC-E488-A94C67807B88}"/>
              </a:ext>
            </a:extLst>
          </p:cNvPr>
          <p:cNvSpPr txBox="1"/>
          <p:nvPr/>
        </p:nvSpPr>
        <p:spPr>
          <a:xfrm>
            <a:off x="13994029" y="4229100"/>
            <a:ext cx="3108960" cy="999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0" b="1">
                <a:solidFill>
                  <a:srgbClr val="1E2761"/>
                </a:solidFill>
                <a:latin typeface="Calibri"/>
              </a:rPr>
              <a:t>41%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E838FB2-01C2-4BE0-6302-314766BDAFDC}"/>
              </a:ext>
            </a:extLst>
          </p:cNvPr>
          <p:cNvSpPr txBox="1"/>
          <p:nvPr/>
        </p:nvSpPr>
        <p:spPr>
          <a:xfrm>
            <a:off x="13994029" y="5167253"/>
            <a:ext cx="3108960" cy="29982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b="0" dirty="0">
                <a:solidFill>
                  <a:srgbClr val="21295C"/>
                </a:solidFill>
                <a:latin typeface="Calibri"/>
              </a:rPr>
              <a:t>+ Work-life balance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80B5EAA-A9CC-5F11-E7AA-9AA6A3CC3B3F}"/>
              </a:ext>
            </a:extLst>
          </p:cNvPr>
          <p:cNvSpPr txBox="1"/>
          <p:nvPr/>
        </p:nvSpPr>
        <p:spPr>
          <a:xfrm>
            <a:off x="13994029" y="5509260"/>
            <a:ext cx="3108960" cy="999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0" b="1">
                <a:solidFill>
                  <a:srgbClr val="1E2761"/>
                </a:solidFill>
                <a:latin typeface="Calibri"/>
              </a:rPr>
              <a:t>60%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53D2EB3-AEB1-6BCE-A159-945FD6E0E9B2}"/>
              </a:ext>
            </a:extLst>
          </p:cNvPr>
          <p:cNvSpPr txBox="1"/>
          <p:nvPr/>
        </p:nvSpPr>
        <p:spPr>
          <a:xfrm>
            <a:off x="13994029" y="6507937"/>
            <a:ext cx="3108960" cy="29982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b="0" dirty="0">
                <a:solidFill>
                  <a:srgbClr val="21295C"/>
                </a:solidFill>
                <a:latin typeface="Calibri"/>
              </a:rPr>
              <a:t>+ Engagement</a:t>
            </a:r>
          </a:p>
        </p:txBody>
      </p:sp>
    </p:spTree>
    <p:extLst>
      <p:ext uri="{BB962C8B-B14F-4D97-AF65-F5344CB8AC3E}">
        <p14:creationId xmlns:p14="http://schemas.microsoft.com/office/powerpoint/2010/main" val="38408035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FD74BF-2882-18CA-6F28-8F2567B54C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B5065A0F-FC62-E6C4-BE25-AC5474DE7F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5F2F1"/>
          </a:solidFill>
        </p:spPr>
        <p:txBody>
          <a:bodyPr/>
          <a:lstStyle/>
          <a:p>
            <a:endParaRPr lang="en-C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8B8C7F6-2DE2-AC6F-F99C-5E833057BA86}"/>
              </a:ext>
            </a:extLst>
          </p:cNvPr>
          <p:cNvSpPr txBox="1"/>
          <p:nvPr/>
        </p:nvSpPr>
        <p:spPr>
          <a:xfrm>
            <a:off x="548640" y="548640"/>
            <a:ext cx="10058400" cy="29982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b="1">
                <a:solidFill>
                  <a:srgbClr val="1E2761"/>
                </a:solidFill>
                <a:latin typeface="Calibri"/>
              </a:rPr>
              <a:t>FINDING 2 — RANKED DRIVERS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8369EB3-C968-9540-CADF-3B3E9B7C8EA4}"/>
              </a:ext>
            </a:extLst>
          </p:cNvPr>
          <p:cNvSpPr txBox="1"/>
          <p:nvPr/>
        </p:nvSpPr>
        <p:spPr>
          <a:xfrm>
            <a:off x="512781" y="1181100"/>
            <a:ext cx="10972800" cy="7075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4400" b="1" dirty="0">
                <a:solidFill>
                  <a:srgbClr val="21295C"/>
                </a:solidFill>
                <a:latin typeface="Calibri"/>
              </a:rPr>
              <a:t>Engagement is ~7× larger than the next thing</a:t>
            </a:r>
          </a:p>
        </p:txBody>
      </p:sp>
      <p:pic>
        <p:nvPicPr>
          <p:cNvPr id="7" name="Picture 6" descr="05_standardized_coefs.png">
            <a:extLst>
              <a:ext uri="{FF2B5EF4-FFF2-40B4-BE49-F238E27FC236}">
                <a16:creationId xmlns:a16="http://schemas.microsoft.com/office/drawing/2014/main" id="{BF822954-6AA2-63CC-7DED-E6A012575F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604" y="2400300"/>
            <a:ext cx="10972799" cy="734724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06EFE9C-AA42-7743-695D-46212C762D3A}"/>
              </a:ext>
            </a:extLst>
          </p:cNvPr>
          <p:cNvSpPr txBox="1"/>
          <p:nvPr/>
        </p:nvSpPr>
        <p:spPr>
          <a:xfrm>
            <a:off x="12420600" y="3314700"/>
            <a:ext cx="3840480" cy="29982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b="1" dirty="0">
                <a:solidFill>
                  <a:srgbClr val="1E2761"/>
                </a:solidFill>
                <a:latin typeface="Calibri"/>
              </a:rPr>
              <a:t>READING THIS CHART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85F2861-E275-2510-CFA0-2BAFB094EF9F}"/>
              </a:ext>
            </a:extLst>
          </p:cNvPr>
          <p:cNvSpPr txBox="1"/>
          <p:nvPr/>
        </p:nvSpPr>
        <p:spPr>
          <a:xfrm>
            <a:off x="12393706" y="4127163"/>
            <a:ext cx="5867400" cy="2545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dirty="0">
                <a:solidFill>
                  <a:srgbClr val="21295C"/>
                </a:solidFill>
                <a:latin typeface="Calibri"/>
              </a:rPr>
              <a:t>Each bar is the standardized effect on satisfaction.</a:t>
            </a:r>
          </a:p>
          <a:p>
            <a:pPr algn="l">
              <a:lnSpc>
                <a:spcPct val="140000"/>
              </a:lnSpc>
            </a:pPr>
            <a:endParaRPr sz="2000" b="0" dirty="0">
              <a:solidFill>
                <a:srgbClr val="21295C"/>
              </a:solidFill>
              <a:latin typeface="Calibri"/>
            </a:endParaRPr>
          </a:p>
          <a:p>
            <a:pPr algn="l">
              <a:lnSpc>
                <a:spcPct val="140000"/>
              </a:lnSpc>
            </a:pPr>
            <a:r>
              <a:rPr sz="2000" b="0" dirty="0">
                <a:solidFill>
                  <a:srgbClr val="21295C"/>
                </a:solidFill>
                <a:latin typeface="Calibri"/>
              </a:rPr>
              <a:t>Engagement: β = 0.71</a:t>
            </a:r>
          </a:p>
          <a:p>
            <a:pPr algn="l">
              <a:lnSpc>
                <a:spcPct val="140000"/>
              </a:lnSpc>
            </a:pPr>
            <a:r>
              <a:rPr sz="2000" b="0" dirty="0">
                <a:solidFill>
                  <a:srgbClr val="21295C"/>
                </a:solidFill>
                <a:latin typeface="Calibri"/>
              </a:rPr>
              <a:t>Next closest: β = 0.10</a:t>
            </a:r>
          </a:p>
          <a:p>
            <a:pPr algn="l">
              <a:lnSpc>
                <a:spcPct val="140000"/>
              </a:lnSpc>
            </a:pPr>
            <a:endParaRPr sz="2000" b="0" dirty="0">
              <a:solidFill>
                <a:srgbClr val="21295C"/>
              </a:solidFill>
              <a:latin typeface="Calibri"/>
            </a:endParaRPr>
          </a:p>
          <a:p>
            <a:pPr algn="l">
              <a:lnSpc>
                <a:spcPct val="140000"/>
              </a:lnSpc>
            </a:pPr>
            <a:r>
              <a:rPr sz="2000" b="0" dirty="0">
                <a:solidFill>
                  <a:srgbClr val="21295C"/>
                </a:solidFill>
                <a:latin typeface="Calibri"/>
              </a:rPr>
              <a:t>Where you work, gender, age, tenure — barely register.</a:t>
            </a:r>
          </a:p>
        </p:txBody>
      </p:sp>
    </p:spTree>
    <p:extLst>
      <p:ext uri="{BB962C8B-B14F-4D97-AF65-F5344CB8AC3E}">
        <p14:creationId xmlns:p14="http://schemas.microsoft.com/office/powerpoint/2010/main" val="4660736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A49DA2-6843-11F5-6489-5915F2A26E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81CCE026-1C80-3AD1-940D-A8DB288A3D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5F2F1"/>
          </a:solidFill>
        </p:spPr>
        <p:txBody>
          <a:bodyPr/>
          <a:lstStyle/>
          <a:p>
            <a:endParaRPr lang="en-C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4A0A647-C88D-833E-FF99-3948CB03F5C8}"/>
              </a:ext>
            </a:extLst>
          </p:cNvPr>
          <p:cNvSpPr txBox="1"/>
          <p:nvPr/>
        </p:nvSpPr>
        <p:spPr>
          <a:xfrm>
            <a:off x="548640" y="457200"/>
            <a:ext cx="7315200" cy="2664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dirty="0">
                <a:solidFill>
                  <a:srgbClr val="FFC107"/>
                </a:solidFill>
                <a:latin typeface="Calibri"/>
              </a:rPr>
              <a:t>BONUS — SECONDARY ANALYSIS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C50021B-5095-FD45-3CD0-3FD5885B205C}"/>
              </a:ext>
            </a:extLst>
          </p:cNvPr>
          <p:cNvSpPr txBox="1"/>
          <p:nvPr/>
        </p:nvSpPr>
        <p:spPr>
          <a:xfrm>
            <a:off x="530711" y="1180883"/>
            <a:ext cx="10972800" cy="666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 dirty="0">
                <a:solidFill>
                  <a:srgbClr val="21295C"/>
                </a:solidFill>
                <a:latin typeface="Calibri"/>
              </a:rPr>
              <a:t>Side question: who's likely to leave?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E82337E-9CB0-5CBA-ECC8-916F76DD05A1}"/>
              </a:ext>
            </a:extLst>
          </p:cNvPr>
          <p:cNvSpPr txBox="1"/>
          <p:nvPr/>
        </p:nvSpPr>
        <p:spPr>
          <a:xfrm>
            <a:off x="530711" y="2427377"/>
            <a:ext cx="3657600" cy="191571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0" b="1" dirty="0">
                <a:solidFill>
                  <a:srgbClr val="1E2761"/>
                </a:solidFill>
                <a:latin typeface="Calibri"/>
              </a:rPr>
              <a:t>33%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5A19645-AD2D-1438-AEC2-E019510D9D10}"/>
              </a:ext>
            </a:extLst>
          </p:cNvPr>
          <p:cNvSpPr txBox="1"/>
          <p:nvPr/>
        </p:nvSpPr>
        <p:spPr>
          <a:xfrm>
            <a:off x="575533" y="4304994"/>
            <a:ext cx="5457712" cy="36779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 dirty="0">
                <a:solidFill>
                  <a:srgbClr val="21295C"/>
                </a:solidFill>
                <a:latin typeface="Calibri"/>
              </a:rPr>
              <a:t>of federal employees are considering leaving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5BCA79C-C0EF-98A5-D108-6BAAE2417073}"/>
              </a:ext>
            </a:extLst>
          </p:cNvPr>
          <p:cNvSpPr txBox="1"/>
          <p:nvPr/>
        </p:nvSpPr>
        <p:spPr>
          <a:xfrm>
            <a:off x="562086" y="5657087"/>
            <a:ext cx="3657600" cy="79957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800" b="1" dirty="0">
                <a:solidFill>
                  <a:srgbClr val="1E2761"/>
                </a:solidFill>
                <a:latin typeface="Calibri"/>
              </a:rPr>
              <a:t>AUC 0.77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083A3FC-DEF1-3402-8096-4CB8A4CFB54D}"/>
              </a:ext>
            </a:extLst>
          </p:cNvPr>
          <p:cNvSpPr txBox="1"/>
          <p:nvPr/>
        </p:nvSpPr>
        <p:spPr>
          <a:xfrm>
            <a:off x="562086" y="6609778"/>
            <a:ext cx="5457713" cy="3309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b="0" dirty="0" err="1">
                <a:solidFill>
                  <a:srgbClr val="6B738D"/>
                </a:solidFill>
                <a:latin typeface="Calibri"/>
              </a:rPr>
              <a:t>XGBoost</a:t>
            </a:r>
            <a:r>
              <a:rPr b="0" dirty="0">
                <a:solidFill>
                  <a:srgbClr val="6B738D"/>
                </a:solidFill>
                <a:latin typeface="Calibri"/>
              </a:rPr>
              <a:t> classifier (recall 64% on leavers)</a:t>
            </a:r>
          </a:p>
        </p:txBody>
      </p:sp>
      <p:pic>
        <p:nvPicPr>
          <p:cNvPr id="11" name="Picture 10" descr="cell34_xgboost_feature_importance.png">
            <a:extLst>
              <a:ext uri="{FF2B5EF4-FFF2-40B4-BE49-F238E27FC236}">
                <a16:creationId xmlns:a16="http://schemas.microsoft.com/office/drawing/2014/main" id="{3A163B11-9E8A-A8FE-B8F2-0AD8A41C6B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96673" y="2304419"/>
            <a:ext cx="10093382" cy="625721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8B10409-81E4-8EE8-CACF-5FB8D0FC8CE5}"/>
              </a:ext>
            </a:extLst>
          </p:cNvPr>
          <p:cNvSpPr txBox="1"/>
          <p:nvPr/>
        </p:nvSpPr>
        <p:spPr>
          <a:xfrm>
            <a:off x="1905000" y="8706328"/>
            <a:ext cx="13106400" cy="39978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400" b="1" dirty="0">
                <a:solidFill>
                  <a:srgbClr val="21295C"/>
                </a:solidFill>
                <a:latin typeface="Calibri"/>
              </a:rPr>
              <a:t>Top 3 drivers: Job satisfaction (Q70), Leadership (Q57–Q65 mean), Pay satisfaction (Q71).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472D4E9-3987-0C8B-6675-4F91DDE4FCBE}"/>
              </a:ext>
            </a:extLst>
          </p:cNvPr>
          <p:cNvSpPr txBox="1"/>
          <p:nvPr/>
        </p:nvSpPr>
        <p:spPr>
          <a:xfrm>
            <a:off x="2133600" y="9279387"/>
            <a:ext cx="13106400" cy="333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0" dirty="0">
                <a:solidFill>
                  <a:srgbClr val="6B738D"/>
                </a:solidFill>
                <a:latin typeface="Calibri"/>
              </a:rPr>
              <a:t>Demographics (DFEDTEN_C = tenure 20+, DSEX_B = female, etc.) barely register.</a:t>
            </a:r>
          </a:p>
        </p:txBody>
      </p:sp>
    </p:spTree>
    <p:extLst>
      <p:ext uri="{BB962C8B-B14F-4D97-AF65-F5344CB8AC3E}">
        <p14:creationId xmlns:p14="http://schemas.microsoft.com/office/powerpoint/2010/main" val="22205639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C0C40A-6A68-526E-F9AC-1F55E44FC3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AA07E5AD-254B-48A1-64D2-D31BBD4C9B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5F2F1"/>
          </a:solidFill>
        </p:spPr>
        <p:txBody>
          <a:bodyPr/>
          <a:lstStyle/>
          <a:p>
            <a:endParaRPr lang="en-C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EA34895-D332-1601-9F0B-D2AE3CF45A7E}"/>
              </a:ext>
            </a:extLst>
          </p:cNvPr>
          <p:cNvSpPr txBox="1"/>
          <p:nvPr/>
        </p:nvSpPr>
        <p:spPr>
          <a:xfrm>
            <a:off x="548640" y="457200"/>
            <a:ext cx="7315200" cy="29982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b="1" dirty="0">
                <a:solidFill>
                  <a:srgbClr val="FFC107"/>
                </a:solidFill>
                <a:latin typeface="Calibri"/>
              </a:rPr>
              <a:t>BONUS — THE PAY GRADIENT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03FBB11-4511-7145-DC4C-96EA569F9238}"/>
              </a:ext>
            </a:extLst>
          </p:cNvPr>
          <p:cNvSpPr txBox="1"/>
          <p:nvPr/>
        </p:nvSpPr>
        <p:spPr>
          <a:xfrm>
            <a:off x="548640" y="1180608"/>
            <a:ext cx="10972800" cy="7329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1" dirty="0">
                <a:solidFill>
                  <a:srgbClr val="21295C"/>
                </a:solidFill>
                <a:latin typeface="Calibri"/>
              </a:rPr>
              <a:t>And the relationship is monotonic</a:t>
            </a:r>
          </a:p>
        </p:txBody>
      </p:sp>
      <p:pic>
        <p:nvPicPr>
          <p:cNvPr id="5" name="Picture 4" descr="cell16_attrition_by_pay_CORRECTED.png">
            <a:extLst>
              <a:ext uri="{FF2B5EF4-FFF2-40B4-BE49-F238E27FC236}">
                <a16:creationId xmlns:a16="http://schemas.microsoft.com/office/drawing/2014/main" id="{00E712C9-67E0-84AA-F5C1-992A576B76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552700"/>
            <a:ext cx="10562694" cy="65536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772B0A3-628F-826F-A83D-29BC5597A7BA}"/>
              </a:ext>
            </a:extLst>
          </p:cNvPr>
          <p:cNvSpPr txBox="1"/>
          <p:nvPr/>
        </p:nvSpPr>
        <p:spPr>
          <a:xfrm>
            <a:off x="12247972" y="3314700"/>
            <a:ext cx="3566160" cy="29982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b="1" dirty="0">
                <a:solidFill>
                  <a:srgbClr val="1E2761"/>
                </a:solidFill>
                <a:latin typeface="Calibri"/>
              </a:rPr>
              <a:t>FROM RED TO GREEN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49D0A35-9D38-F08F-E998-DF1B414340CE}"/>
              </a:ext>
            </a:extLst>
          </p:cNvPr>
          <p:cNvSpPr txBox="1"/>
          <p:nvPr/>
        </p:nvSpPr>
        <p:spPr>
          <a:xfrm>
            <a:off x="12239007" y="4220829"/>
            <a:ext cx="3566160" cy="10994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600" b="1" dirty="0">
                <a:solidFill>
                  <a:srgbClr val="1E2761"/>
                </a:solidFill>
                <a:latin typeface="Calibri"/>
              </a:rPr>
              <a:t>65%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349E1FF-1091-60C2-A724-EA9008371789}"/>
              </a:ext>
            </a:extLst>
          </p:cNvPr>
          <p:cNvSpPr txBox="1"/>
          <p:nvPr/>
        </p:nvSpPr>
        <p:spPr>
          <a:xfrm>
            <a:off x="12239007" y="5275619"/>
            <a:ext cx="5486906" cy="3309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b="0" dirty="0">
                <a:solidFill>
                  <a:srgbClr val="21295C"/>
                </a:solidFill>
                <a:latin typeface="Calibri"/>
              </a:rPr>
              <a:t>attrition rate among employees very dissatisfied with pay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EA8378A-8827-0DCB-2CC5-8F76492CC3A2}"/>
              </a:ext>
            </a:extLst>
          </p:cNvPr>
          <p:cNvSpPr txBox="1"/>
          <p:nvPr/>
        </p:nvSpPr>
        <p:spPr>
          <a:xfrm>
            <a:off x="12239007" y="6242332"/>
            <a:ext cx="3566160" cy="10994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600" b="1" dirty="0">
                <a:solidFill>
                  <a:srgbClr val="1E2761"/>
                </a:solidFill>
                <a:latin typeface="Calibri"/>
              </a:rPr>
              <a:t>20%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1AA2E5E-5E31-84A6-9A1E-91CB6E0B3EED}"/>
              </a:ext>
            </a:extLst>
          </p:cNvPr>
          <p:cNvSpPr txBox="1"/>
          <p:nvPr/>
        </p:nvSpPr>
        <p:spPr>
          <a:xfrm>
            <a:off x="12239007" y="7450678"/>
            <a:ext cx="5258306" cy="3309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b="0" dirty="0">
                <a:solidFill>
                  <a:srgbClr val="21295C"/>
                </a:solidFill>
                <a:latin typeface="Calibri"/>
              </a:rPr>
              <a:t>attrition rate among those very satisfied with pay</a:t>
            </a:r>
          </a:p>
        </p:txBody>
      </p:sp>
    </p:spTree>
    <p:extLst>
      <p:ext uri="{BB962C8B-B14F-4D97-AF65-F5344CB8AC3E}">
        <p14:creationId xmlns:p14="http://schemas.microsoft.com/office/powerpoint/2010/main" val="40331876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BA9A4E-1159-6811-3F03-C10E48D6C9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EA96D668-2C50-1760-1605-3D19B77F88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5F2F1"/>
          </a:solidFill>
        </p:spPr>
        <p:txBody>
          <a:bodyPr/>
          <a:lstStyle/>
          <a:p>
            <a:endParaRPr lang="en-CN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7717E8E-E0C6-5E3B-F355-CB24D6A2A137}"/>
              </a:ext>
            </a:extLst>
          </p:cNvPr>
          <p:cNvSpPr txBox="1"/>
          <p:nvPr/>
        </p:nvSpPr>
        <p:spPr>
          <a:xfrm>
            <a:off x="548640" y="548640"/>
            <a:ext cx="10058400" cy="333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dirty="0">
                <a:solidFill>
                  <a:srgbClr val="1E2761"/>
                </a:solidFill>
                <a:latin typeface="Calibri"/>
              </a:rPr>
              <a:t>SO WHAT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3B3802B-8079-30B8-F178-15C9ECB2E371}"/>
              </a:ext>
            </a:extLst>
          </p:cNvPr>
          <p:cNvSpPr txBox="1"/>
          <p:nvPr/>
        </p:nvSpPr>
        <p:spPr>
          <a:xfrm>
            <a:off x="548640" y="1181100"/>
            <a:ext cx="10972800" cy="77187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4800" b="1" dirty="0">
                <a:solidFill>
                  <a:srgbClr val="21295C"/>
                </a:solidFill>
                <a:latin typeface="Calibri"/>
              </a:rPr>
              <a:t>Three takeaways for federal agencies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80FA668-5EB2-0A79-0043-CC02D5453B29}"/>
              </a:ext>
            </a:extLst>
          </p:cNvPr>
          <p:cNvSpPr txBox="1"/>
          <p:nvPr/>
        </p:nvSpPr>
        <p:spPr>
          <a:xfrm>
            <a:off x="1210235" y="3053511"/>
            <a:ext cx="10058400" cy="5997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lang="en-US" sz="3600" b="1" dirty="0">
                <a:solidFill>
                  <a:srgbClr val="21295C"/>
                </a:solidFill>
                <a:latin typeface="Calibri"/>
              </a:rPr>
              <a:t>1. </a:t>
            </a:r>
            <a:r>
              <a:rPr sz="3600" b="1" dirty="0">
                <a:solidFill>
                  <a:srgbClr val="21295C"/>
                </a:solidFill>
                <a:latin typeface="Calibri"/>
              </a:rPr>
              <a:t>Don't fight over telework policy.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700D674-CC3E-8E40-8BD8-2DD1B46F0AF6}"/>
              </a:ext>
            </a:extLst>
          </p:cNvPr>
          <p:cNvSpPr txBox="1"/>
          <p:nvPr/>
        </p:nvSpPr>
        <p:spPr>
          <a:xfrm>
            <a:off x="1210235" y="3762530"/>
            <a:ext cx="10058400" cy="4413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0" dirty="0">
                <a:solidFill>
                  <a:srgbClr val="6B738D"/>
                </a:solidFill>
                <a:latin typeface="Calibri"/>
              </a:rPr>
              <a:t>It's a small lever. Engagement is the big one.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CF52091-3860-A613-33C6-73FBCE2FF279}"/>
              </a:ext>
            </a:extLst>
          </p:cNvPr>
          <p:cNvSpPr txBox="1"/>
          <p:nvPr/>
        </p:nvSpPr>
        <p:spPr>
          <a:xfrm>
            <a:off x="1223682" y="4779694"/>
            <a:ext cx="10058400" cy="5997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lang="en-US" sz="3600" b="1" dirty="0">
                <a:solidFill>
                  <a:srgbClr val="21295C"/>
                </a:solidFill>
                <a:latin typeface="Calibri"/>
              </a:rPr>
              <a:t>2. </a:t>
            </a:r>
            <a:r>
              <a:rPr sz="3600" b="1" dirty="0">
                <a:solidFill>
                  <a:srgbClr val="21295C"/>
                </a:solidFill>
                <a:latin typeface="Calibri"/>
              </a:rPr>
              <a:t>Invest in engagement.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C73059B-D3F7-9DAB-359F-47A032FABA5D}"/>
              </a:ext>
            </a:extLst>
          </p:cNvPr>
          <p:cNvSpPr txBox="1"/>
          <p:nvPr/>
        </p:nvSpPr>
        <p:spPr>
          <a:xfrm>
            <a:off x="1219200" y="5448300"/>
            <a:ext cx="10058400" cy="4413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0" dirty="0">
                <a:solidFill>
                  <a:srgbClr val="6B738D"/>
                </a:solidFill>
                <a:latin typeface="Calibri"/>
              </a:rPr>
              <a:t>Manager quality, mission clarity, recognition — that's the 60%.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9D77C8C-F7A0-00C5-F9F5-92737C548E96}"/>
              </a:ext>
            </a:extLst>
          </p:cNvPr>
          <p:cNvSpPr txBox="1"/>
          <p:nvPr/>
        </p:nvSpPr>
        <p:spPr>
          <a:xfrm>
            <a:off x="1219200" y="6393180"/>
            <a:ext cx="10058400" cy="5997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lang="en-US" sz="3600" b="1" dirty="0">
                <a:solidFill>
                  <a:srgbClr val="21295C"/>
                </a:solidFill>
                <a:latin typeface="Calibri"/>
              </a:rPr>
              <a:t>3. </a:t>
            </a:r>
            <a:r>
              <a:rPr sz="3600" b="1" dirty="0">
                <a:solidFill>
                  <a:srgbClr val="21295C"/>
                </a:solidFill>
                <a:latin typeface="Calibri"/>
              </a:rPr>
              <a:t>Watch attrition signals.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72404CF-AF29-DEE4-1D20-9B7C05EF2010}"/>
              </a:ext>
            </a:extLst>
          </p:cNvPr>
          <p:cNvSpPr txBox="1"/>
          <p:nvPr/>
        </p:nvSpPr>
        <p:spPr>
          <a:xfrm>
            <a:off x="1219200" y="7064361"/>
            <a:ext cx="10058400" cy="4413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0" dirty="0">
                <a:solidFill>
                  <a:srgbClr val="6B738D"/>
                </a:solidFill>
                <a:latin typeface="Calibri"/>
              </a:rPr>
              <a:t>Low pay satisfaction × low engagement = high flight risk.</a:t>
            </a:r>
          </a:p>
        </p:txBody>
      </p:sp>
    </p:spTree>
    <p:extLst>
      <p:ext uri="{BB962C8B-B14F-4D97-AF65-F5344CB8AC3E}">
        <p14:creationId xmlns:p14="http://schemas.microsoft.com/office/powerpoint/2010/main" val="10226420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B3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5DC3053-A1DA-4BC4-0166-F0C17460B1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1CA0EBF-BB86-CF26-C7D7-3D4892E15162}"/>
              </a:ext>
            </a:extLst>
          </p:cNvPr>
          <p:cNvSpPr txBox="1"/>
          <p:nvPr/>
        </p:nvSpPr>
        <p:spPr>
          <a:xfrm>
            <a:off x="640080" y="365760"/>
            <a:ext cx="10058400" cy="333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dirty="0">
                <a:solidFill>
                  <a:schemeClr val="bg1"/>
                </a:solidFill>
                <a:latin typeface="Calibri"/>
              </a:rPr>
              <a:t>LIMITATIONS &amp; WHAT WE'D DO NEXT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23F82E0-DB8B-ECBB-1C2F-C95BF6A8A4F1}"/>
              </a:ext>
            </a:extLst>
          </p:cNvPr>
          <p:cNvSpPr txBox="1"/>
          <p:nvPr/>
        </p:nvSpPr>
        <p:spPr>
          <a:xfrm>
            <a:off x="640080" y="1671458"/>
            <a:ext cx="4572000" cy="5997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 dirty="0">
                <a:solidFill>
                  <a:schemeClr val="bg1"/>
                </a:solidFill>
                <a:latin typeface="Calibri"/>
              </a:rPr>
              <a:t>Cross-sectional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FB30D9F-3EE1-4FEE-DBF6-BCAA668362F0}"/>
              </a:ext>
            </a:extLst>
          </p:cNvPr>
          <p:cNvSpPr txBox="1"/>
          <p:nvPr/>
        </p:nvSpPr>
        <p:spPr>
          <a:xfrm>
            <a:off x="640080" y="2307385"/>
            <a:ext cx="6400800" cy="36779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 dirty="0">
                <a:solidFill>
                  <a:schemeClr val="bg1"/>
                </a:solidFill>
                <a:latin typeface="Calibri"/>
              </a:rPr>
              <a:t>We see association, not causation.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A7D26C9-B3E5-2B0F-15FD-AF6DA152AEE4}"/>
              </a:ext>
            </a:extLst>
          </p:cNvPr>
          <p:cNvSpPr txBox="1"/>
          <p:nvPr/>
        </p:nvSpPr>
        <p:spPr>
          <a:xfrm>
            <a:off x="640080" y="2970541"/>
            <a:ext cx="4572000" cy="5997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 dirty="0">
                <a:solidFill>
                  <a:schemeClr val="bg1"/>
                </a:solidFill>
                <a:latin typeface="Calibri"/>
              </a:rPr>
              <a:t>Self-reported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22E0BF9-52A7-173A-9561-5F4C4FF204AA}"/>
              </a:ext>
            </a:extLst>
          </p:cNvPr>
          <p:cNvSpPr txBox="1"/>
          <p:nvPr/>
        </p:nvSpPr>
        <p:spPr>
          <a:xfrm>
            <a:off x="640080" y="3691555"/>
            <a:ext cx="6400800" cy="36779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 dirty="0">
                <a:solidFill>
                  <a:schemeClr val="bg1"/>
                </a:solidFill>
                <a:latin typeface="Calibri"/>
              </a:rPr>
              <a:t>Same person rates engagement and satisfaction.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522F463-AEFD-8E86-5B6C-3AAD4FABA285}"/>
              </a:ext>
            </a:extLst>
          </p:cNvPr>
          <p:cNvSpPr txBox="1"/>
          <p:nvPr/>
        </p:nvSpPr>
        <p:spPr>
          <a:xfrm>
            <a:off x="640080" y="4395417"/>
            <a:ext cx="4572000" cy="5997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 dirty="0">
                <a:solidFill>
                  <a:schemeClr val="bg1"/>
                </a:solidFill>
                <a:latin typeface="Calibri"/>
              </a:rPr>
              <a:t>Single year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3A77C24-912F-1A48-D6C0-174C9EFC2499}"/>
              </a:ext>
            </a:extLst>
          </p:cNvPr>
          <p:cNvSpPr txBox="1"/>
          <p:nvPr/>
        </p:nvSpPr>
        <p:spPr>
          <a:xfrm>
            <a:off x="640080" y="5143500"/>
            <a:ext cx="6400800" cy="36779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 dirty="0">
                <a:solidFill>
                  <a:schemeClr val="bg1"/>
                </a:solidFill>
                <a:latin typeface="Calibri"/>
              </a:rPr>
              <a:t>2024 only. Replicate across 2022–24 next.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7C8EFF2-ABE6-9278-1878-489CA3919321}"/>
              </a:ext>
            </a:extLst>
          </p:cNvPr>
          <p:cNvSpPr txBox="1"/>
          <p:nvPr/>
        </p:nvSpPr>
        <p:spPr>
          <a:xfrm>
            <a:off x="640080" y="6971743"/>
            <a:ext cx="10515600" cy="6432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4000" b="0" dirty="0">
                <a:solidFill>
                  <a:schemeClr val="bg1"/>
                </a:solidFill>
                <a:latin typeface="Calibri"/>
              </a:rPr>
              <a:t>Telework gets the headlines.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A96A541-24F3-B059-8835-8CCE9BF05AEC}"/>
              </a:ext>
            </a:extLst>
          </p:cNvPr>
          <p:cNvSpPr txBox="1"/>
          <p:nvPr/>
        </p:nvSpPr>
        <p:spPr>
          <a:xfrm>
            <a:off x="640080" y="7986118"/>
            <a:ext cx="10515600" cy="6432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4000" b="1" dirty="0">
                <a:solidFill>
                  <a:schemeClr val="bg1"/>
                </a:solidFill>
                <a:latin typeface="Calibri"/>
              </a:rPr>
              <a:t>Engagement gets the results.</a:t>
            </a:r>
          </a:p>
        </p:txBody>
      </p:sp>
    </p:spTree>
    <p:extLst>
      <p:ext uri="{BB962C8B-B14F-4D97-AF65-F5344CB8AC3E}">
        <p14:creationId xmlns:p14="http://schemas.microsoft.com/office/powerpoint/2010/main" val="32530721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83B3C9-AFE3-BA84-5431-777D00D40F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F4712AE1-E9C3-9CC6-6928-CDD74C7C7B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5F2F1"/>
          </a:solidFill>
        </p:spPr>
        <p:txBody>
          <a:bodyPr/>
          <a:lstStyle/>
          <a:p>
            <a:endParaRPr lang="en-C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BA62DFA-1F63-B219-DB41-1DFC82944E09}"/>
              </a:ext>
            </a:extLst>
          </p:cNvPr>
          <p:cNvSpPr txBox="1"/>
          <p:nvPr/>
        </p:nvSpPr>
        <p:spPr>
          <a:xfrm>
            <a:off x="609600" y="541020"/>
            <a:ext cx="7315200" cy="2332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6B738D"/>
                </a:solidFill>
                <a:latin typeface="Calibri"/>
              </a:rPr>
              <a:t>BACKUP 1 / 5 — Q71 BOXPLOT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87D70B7-01E8-7876-4359-0D84B65024B3}"/>
              </a:ext>
            </a:extLst>
          </p:cNvPr>
          <p:cNvSpPr txBox="1"/>
          <p:nvPr/>
        </p:nvSpPr>
        <p:spPr>
          <a:xfrm>
            <a:off x="609600" y="952500"/>
            <a:ext cx="10972800" cy="5146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>
                <a:solidFill>
                  <a:srgbClr val="21295C"/>
                </a:solidFill>
                <a:latin typeface="Calibri"/>
              </a:rPr>
              <a:t>Pay satisfaction vs. leaving (boxplot)</a:t>
            </a:r>
          </a:p>
        </p:txBody>
      </p:sp>
      <p:pic>
        <p:nvPicPr>
          <p:cNvPr id="5" name="Picture 4" descr="cell14_import_matplotlib_pyplot_as_plt.png">
            <a:extLst>
              <a:ext uri="{FF2B5EF4-FFF2-40B4-BE49-F238E27FC236}">
                <a16:creationId xmlns:a16="http://schemas.microsoft.com/office/drawing/2014/main" id="{BEC1CE61-C6EC-1178-6FAA-D5A6E26338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2019300"/>
            <a:ext cx="9525000" cy="760992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B6B7FC8-D205-6295-850D-7D29FA489C97}"/>
              </a:ext>
            </a:extLst>
          </p:cNvPr>
          <p:cNvSpPr txBox="1"/>
          <p:nvPr/>
        </p:nvSpPr>
        <p:spPr>
          <a:xfrm>
            <a:off x="10591800" y="2036584"/>
            <a:ext cx="5516575" cy="42297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dirty="0">
                <a:solidFill>
                  <a:srgbClr val="21295C"/>
                </a:solidFill>
                <a:latin typeface="Calibri"/>
              </a:rPr>
              <a:t>Stayers (0): median pay</a:t>
            </a:r>
          </a:p>
          <a:p>
            <a:pPr algn="l">
              <a:lnSpc>
                <a:spcPct val="140000"/>
              </a:lnSpc>
            </a:pPr>
            <a:r>
              <a:rPr sz="2000" b="0" dirty="0">
                <a:solidFill>
                  <a:srgbClr val="21295C"/>
                </a:solidFill>
                <a:latin typeface="Calibri"/>
              </a:rPr>
              <a:t>satisfaction = 4.</a:t>
            </a:r>
          </a:p>
          <a:p>
            <a:pPr algn="l">
              <a:lnSpc>
                <a:spcPct val="140000"/>
              </a:lnSpc>
            </a:pPr>
            <a:endParaRPr sz="2000" b="0" dirty="0">
              <a:solidFill>
                <a:srgbClr val="21295C"/>
              </a:solidFill>
              <a:latin typeface="Calibri"/>
            </a:endParaRPr>
          </a:p>
          <a:p>
            <a:pPr algn="l">
              <a:lnSpc>
                <a:spcPct val="140000"/>
              </a:lnSpc>
            </a:pPr>
            <a:r>
              <a:rPr sz="2000" b="0" dirty="0">
                <a:solidFill>
                  <a:srgbClr val="21295C"/>
                </a:solidFill>
                <a:latin typeface="Calibri"/>
              </a:rPr>
              <a:t>Leavers (1): median pay</a:t>
            </a:r>
          </a:p>
          <a:p>
            <a:pPr algn="l">
              <a:lnSpc>
                <a:spcPct val="140000"/>
              </a:lnSpc>
            </a:pPr>
            <a:r>
              <a:rPr sz="2000" b="0" dirty="0">
                <a:solidFill>
                  <a:srgbClr val="21295C"/>
                </a:solidFill>
                <a:latin typeface="Calibri"/>
              </a:rPr>
              <a:t>satisfaction = 3.</a:t>
            </a:r>
          </a:p>
          <a:p>
            <a:pPr algn="l">
              <a:lnSpc>
                <a:spcPct val="140000"/>
              </a:lnSpc>
            </a:pPr>
            <a:endParaRPr sz="2000" b="0" dirty="0">
              <a:solidFill>
                <a:srgbClr val="21295C"/>
              </a:solidFill>
              <a:latin typeface="Calibri"/>
            </a:endParaRPr>
          </a:p>
          <a:p>
            <a:pPr algn="l">
              <a:lnSpc>
                <a:spcPct val="140000"/>
              </a:lnSpc>
            </a:pPr>
            <a:r>
              <a:rPr sz="2000" b="0" dirty="0">
                <a:solidFill>
                  <a:srgbClr val="21295C"/>
                </a:solidFill>
                <a:latin typeface="Calibri"/>
              </a:rPr>
              <a:t>The full distribution</a:t>
            </a:r>
          </a:p>
          <a:p>
            <a:pPr algn="l">
              <a:lnSpc>
                <a:spcPct val="140000"/>
              </a:lnSpc>
            </a:pPr>
            <a:r>
              <a:rPr sz="2000" b="0" dirty="0">
                <a:solidFill>
                  <a:srgbClr val="21295C"/>
                </a:solidFill>
                <a:latin typeface="Calibri"/>
              </a:rPr>
              <a:t>shifts down a full point</a:t>
            </a:r>
          </a:p>
          <a:p>
            <a:pPr algn="l">
              <a:lnSpc>
                <a:spcPct val="140000"/>
              </a:lnSpc>
            </a:pPr>
            <a:r>
              <a:rPr sz="2000" b="0" dirty="0">
                <a:solidFill>
                  <a:srgbClr val="21295C"/>
                </a:solidFill>
                <a:latin typeface="Calibri"/>
              </a:rPr>
              <a:t>for those considering</a:t>
            </a:r>
          </a:p>
          <a:p>
            <a:pPr algn="l">
              <a:lnSpc>
                <a:spcPct val="140000"/>
              </a:lnSpc>
            </a:pPr>
            <a:r>
              <a:rPr sz="2000" b="0" dirty="0">
                <a:solidFill>
                  <a:srgbClr val="21295C"/>
                </a:solidFill>
                <a:latin typeface="Calibri"/>
              </a:rPr>
              <a:t>leaving.</a:t>
            </a:r>
          </a:p>
        </p:txBody>
      </p:sp>
    </p:spTree>
    <p:extLst>
      <p:ext uri="{BB962C8B-B14F-4D97-AF65-F5344CB8AC3E}">
        <p14:creationId xmlns:p14="http://schemas.microsoft.com/office/powerpoint/2010/main" val="26582909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368980-393A-6CD5-5F19-A1B7382CC0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3698E374-EE27-AB76-4583-90F858E75F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5F2F1"/>
          </a:solidFill>
        </p:spPr>
        <p:txBody>
          <a:bodyPr/>
          <a:lstStyle/>
          <a:p>
            <a:endParaRPr lang="en-C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989B3BE-A5FC-44EB-93C8-B109AC4AFF24}"/>
              </a:ext>
            </a:extLst>
          </p:cNvPr>
          <p:cNvSpPr txBox="1"/>
          <p:nvPr/>
        </p:nvSpPr>
        <p:spPr>
          <a:xfrm>
            <a:off x="609600" y="541020"/>
            <a:ext cx="7315200" cy="2664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6B738D"/>
                </a:solidFill>
                <a:latin typeface="Calibri"/>
              </a:rPr>
              <a:t>BACKUP 2 / 5 — TOP 20 AGENCIES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B90FF63-A22D-9261-11F3-7779DCE73730}"/>
              </a:ext>
            </a:extLst>
          </p:cNvPr>
          <p:cNvSpPr txBox="1"/>
          <p:nvPr/>
        </p:nvSpPr>
        <p:spPr>
          <a:xfrm>
            <a:off x="609600" y="952500"/>
            <a:ext cx="10972800" cy="5789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>
                <a:solidFill>
                  <a:srgbClr val="21295C"/>
                </a:solidFill>
                <a:latin typeface="Calibri"/>
              </a:rPr>
              <a:t>Attrition varies a lot by agency</a:t>
            </a:r>
          </a:p>
        </p:txBody>
      </p:sp>
      <p:pic>
        <p:nvPicPr>
          <p:cNvPr id="5" name="Picture 4" descr="cell25_colors_a0c4ff_len_attrition_by_dept.png">
            <a:extLst>
              <a:ext uri="{FF2B5EF4-FFF2-40B4-BE49-F238E27FC236}">
                <a16:creationId xmlns:a16="http://schemas.microsoft.com/office/drawing/2014/main" id="{1B821E05-7FAE-8E36-172F-F11C41E1C8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39" y="1920240"/>
            <a:ext cx="8973483" cy="741426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167A8C6-3AED-CA1C-1A6B-0B980291FD4A}"/>
              </a:ext>
            </a:extLst>
          </p:cNvPr>
          <p:cNvSpPr txBox="1"/>
          <p:nvPr/>
        </p:nvSpPr>
        <p:spPr>
          <a:xfrm>
            <a:off x="10668000" y="1920240"/>
            <a:ext cx="5059375" cy="42297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dirty="0">
                <a:solidFill>
                  <a:srgbClr val="21295C"/>
                </a:solidFill>
                <a:latin typeface="Calibri"/>
              </a:rPr>
              <a:t>Highest attrition: AF, DD,</a:t>
            </a:r>
          </a:p>
          <a:p>
            <a:pPr algn="l">
              <a:lnSpc>
                <a:spcPct val="140000"/>
              </a:lnSpc>
            </a:pPr>
            <a:r>
              <a:rPr sz="2000" b="0" dirty="0">
                <a:solidFill>
                  <a:srgbClr val="21295C"/>
                </a:solidFill>
                <a:latin typeface="Calibri"/>
              </a:rPr>
              <a:t>AR (~40-45%).</a:t>
            </a:r>
          </a:p>
          <a:p>
            <a:pPr algn="l">
              <a:lnSpc>
                <a:spcPct val="140000"/>
              </a:lnSpc>
            </a:pPr>
            <a:endParaRPr sz="2000" b="0" dirty="0">
              <a:solidFill>
                <a:srgbClr val="21295C"/>
              </a:solidFill>
              <a:latin typeface="Calibri"/>
            </a:endParaRPr>
          </a:p>
          <a:p>
            <a:pPr algn="l">
              <a:lnSpc>
                <a:spcPct val="140000"/>
              </a:lnSpc>
            </a:pPr>
            <a:r>
              <a:rPr sz="2000" b="0" dirty="0">
                <a:solidFill>
                  <a:srgbClr val="21295C"/>
                </a:solidFill>
                <a:latin typeface="Calibri"/>
              </a:rPr>
              <a:t>Lowest: GS, EP, CM</a:t>
            </a:r>
          </a:p>
          <a:p>
            <a:pPr algn="l">
              <a:lnSpc>
                <a:spcPct val="140000"/>
              </a:lnSpc>
            </a:pPr>
            <a:r>
              <a:rPr sz="2000" b="0" dirty="0">
                <a:solidFill>
                  <a:srgbClr val="21295C"/>
                </a:solidFill>
                <a:latin typeface="Calibri"/>
              </a:rPr>
              <a:t>(~22-25%).</a:t>
            </a:r>
          </a:p>
          <a:p>
            <a:pPr algn="l">
              <a:lnSpc>
                <a:spcPct val="140000"/>
              </a:lnSpc>
            </a:pPr>
            <a:endParaRPr sz="2000" b="0" dirty="0">
              <a:solidFill>
                <a:srgbClr val="21295C"/>
              </a:solidFill>
              <a:latin typeface="Calibri"/>
            </a:endParaRPr>
          </a:p>
          <a:p>
            <a:pPr algn="l">
              <a:lnSpc>
                <a:spcPct val="140000"/>
              </a:lnSpc>
            </a:pPr>
            <a:r>
              <a:rPr sz="2000" b="0" dirty="0">
                <a:solidFill>
                  <a:srgbClr val="21295C"/>
                </a:solidFill>
                <a:latin typeface="Calibri"/>
              </a:rPr>
              <a:t>Two-fold variation</a:t>
            </a:r>
          </a:p>
          <a:p>
            <a:pPr algn="l">
              <a:lnSpc>
                <a:spcPct val="140000"/>
              </a:lnSpc>
            </a:pPr>
            <a:r>
              <a:rPr sz="2000" b="0" dirty="0">
                <a:solidFill>
                  <a:srgbClr val="21295C"/>
                </a:solidFill>
                <a:latin typeface="Calibri"/>
              </a:rPr>
              <a:t>suggests agency-level</a:t>
            </a:r>
          </a:p>
          <a:p>
            <a:pPr algn="l">
              <a:lnSpc>
                <a:spcPct val="140000"/>
              </a:lnSpc>
            </a:pPr>
            <a:r>
              <a:rPr sz="2000" b="0" dirty="0">
                <a:solidFill>
                  <a:srgbClr val="21295C"/>
                </a:solidFill>
                <a:latin typeface="Calibri"/>
              </a:rPr>
              <a:t>culture matters — not</a:t>
            </a:r>
          </a:p>
          <a:p>
            <a:pPr algn="l">
              <a:lnSpc>
                <a:spcPct val="140000"/>
              </a:lnSpc>
            </a:pPr>
            <a:r>
              <a:rPr sz="2000" b="0" dirty="0">
                <a:solidFill>
                  <a:srgbClr val="21295C"/>
                </a:solidFill>
                <a:latin typeface="Calibri"/>
              </a:rPr>
              <a:t>just individual factors.</a:t>
            </a:r>
          </a:p>
        </p:txBody>
      </p:sp>
    </p:spTree>
    <p:extLst>
      <p:ext uri="{BB962C8B-B14F-4D97-AF65-F5344CB8AC3E}">
        <p14:creationId xmlns:p14="http://schemas.microsoft.com/office/powerpoint/2010/main" val="178262386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7B3F5C-6259-633D-3018-4A173F1437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C210B10C-00F7-27FC-49F6-98C4FA63A2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5F2F1"/>
          </a:solidFill>
        </p:spPr>
        <p:txBody>
          <a:bodyPr/>
          <a:lstStyle/>
          <a:p>
            <a:endParaRPr lang="en-C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929FF1D-A863-7E1E-3E48-CB2CC278744E}"/>
              </a:ext>
            </a:extLst>
          </p:cNvPr>
          <p:cNvSpPr txBox="1"/>
          <p:nvPr/>
        </p:nvSpPr>
        <p:spPr>
          <a:xfrm>
            <a:off x="548640" y="365760"/>
            <a:ext cx="7315200" cy="2664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6B738D"/>
                </a:solidFill>
                <a:latin typeface="Calibri"/>
              </a:rPr>
              <a:t>BACKUP 3 / 5 — AGENCY SCATTER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83B873A-F0B9-B52A-EA22-CB7B0611CA37}"/>
              </a:ext>
            </a:extLst>
          </p:cNvPr>
          <p:cNvSpPr txBox="1"/>
          <p:nvPr/>
        </p:nvSpPr>
        <p:spPr>
          <a:xfrm>
            <a:off x="548640" y="777240"/>
            <a:ext cx="10972800" cy="5789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>
                <a:solidFill>
                  <a:srgbClr val="21295C"/>
                </a:solidFill>
                <a:latin typeface="Calibri"/>
              </a:rPr>
              <a:t>Less satisfied agencies have higher attrition</a:t>
            </a:r>
          </a:p>
        </p:txBody>
      </p:sp>
      <p:pic>
        <p:nvPicPr>
          <p:cNvPr id="5" name="Picture 4" descr="cell27_sns_scatterplot.png">
            <a:extLst>
              <a:ext uri="{FF2B5EF4-FFF2-40B4-BE49-F238E27FC236}">
                <a16:creationId xmlns:a16="http://schemas.microsoft.com/office/drawing/2014/main" id="{C389BB01-38CA-E1D4-224C-8B94502F16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39" y="1920240"/>
            <a:ext cx="9650251" cy="758952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42AFB2B-59A5-E2BF-4AE0-0052737C7338}"/>
              </a:ext>
            </a:extLst>
          </p:cNvPr>
          <p:cNvSpPr txBox="1"/>
          <p:nvPr/>
        </p:nvSpPr>
        <p:spPr>
          <a:xfrm>
            <a:off x="10591800" y="1920240"/>
            <a:ext cx="5516575" cy="42297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b="0" dirty="0">
                <a:solidFill>
                  <a:srgbClr val="21295C"/>
                </a:solidFill>
                <a:latin typeface="Calibri"/>
              </a:rPr>
              <a:t>Each dot is one agency.</a:t>
            </a:r>
          </a:p>
          <a:p>
            <a:pPr algn="l">
              <a:lnSpc>
                <a:spcPct val="140000"/>
              </a:lnSpc>
            </a:pPr>
            <a:endParaRPr b="0" dirty="0">
              <a:solidFill>
                <a:srgbClr val="21295C"/>
              </a:solidFill>
              <a:latin typeface="Calibri"/>
            </a:endParaRPr>
          </a:p>
          <a:p>
            <a:pPr algn="l">
              <a:lnSpc>
                <a:spcPct val="140000"/>
              </a:lnSpc>
            </a:pPr>
            <a:r>
              <a:rPr b="0" dirty="0">
                <a:solidFill>
                  <a:srgbClr val="21295C"/>
                </a:solidFill>
                <a:latin typeface="Calibri"/>
              </a:rPr>
              <a:t>Clear inverse pattern:</a:t>
            </a:r>
          </a:p>
          <a:p>
            <a:pPr algn="l">
              <a:lnSpc>
                <a:spcPct val="140000"/>
              </a:lnSpc>
            </a:pPr>
            <a:r>
              <a:rPr b="0" dirty="0">
                <a:solidFill>
                  <a:srgbClr val="21295C"/>
                </a:solidFill>
                <a:latin typeface="Calibri"/>
              </a:rPr>
              <a:t>higher mean job</a:t>
            </a:r>
          </a:p>
          <a:p>
            <a:pPr algn="l">
              <a:lnSpc>
                <a:spcPct val="140000"/>
              </a:lnSpc>
            </a:pPr>
            <a:r>
              <a:rPr b="0" dirty="0">
                <a:solidFill>
                  <a:srgbClr val="21295C"/>
                </a:solidFill>
                <a:latin typeface="Calibri"/>
              </a:rPr>
              <a:t>satisfaction ↔ lower</a:t>
            </a:r>
          </a:p>
          <a:p>
            <a:pPr algn="l">
              <a:lnSpc>
                <a:spcPct val="140000"/>
              </a:lnSpc>
            </a:pPr>
            <a:r>
              <a:rPr b="0" dirty="0">
                <a:solidFill>
                  <a:srgbClr val="21295C"/>
                </a:solidFill>
                <a:latin typeface="Calibri"/>
              </a:rPr>
              <a:t>attrition rate.</a:t>
            </a:r>
          </a:p>
          <a:p>
            <a:pPr algn="l">
              <a:lnSpc>
                <a:spcPct val="140000"/>
              </a:lnSpc>
            </a:pPr>
            <a:endParaRPr b="0" dirty="0">
              <a:solidFill>
                <a:srgbClr val="21295C"/>
              </a:solidFill>
              <a:latin typeface="Calibri"/>
            </a:endParaRPr>
          </a:p>
          <a:p>
            <a:pPr algn="l">
              <a:lnSpc>
                <a:spcPct val="140000"/>
              </a:lnSpc>
            </a:pPr>
            <a:r>
              <a:rPr b="0" dirty="0">
                <a:solidFill>
                  <a:srgbClr val="21295C"/>
                </a:solidFill>
                <a:latin typeface="Calibri"/>
              </a:rPr>
              <a:t>The outlier in the</a:t>
            </a:r>
          </a:p>
          <a:p>
            <a:pPr algn="l">
              <a:lnSpc>
                <a:spcPct val="140000"/>
              </a:lnSpc>
            </a:pPr>
            <a:r>
              <a:rPr b="0" dirty="0">
                <a:solidFill>
                  <a:srgbClr val="21295C"/>
                </a:solidFill>
                <a:latin typeface="Calibri"/>
              </a:rPr>
              <a:t>upper-left is a small,</a:t>
            </a:r>
          </a:p>
          <a:p>
            <a:pPr algn="l">
              <a:lnSpc>
                <a:spcPct val="140000"/>
              </a:lnSpc>
            </a:pPr>
            <a:r>
              <a:rPr b="0" dirty="0">
                <a:solidFill>
                  <a:srgbClr val="21295C"/>
                </a:solidFill>
                <a:latin typeface="Calibri"/>
              </a:rPr>
              <a:t>low-satisfaction agency</a:t>
            </a:r>
          </a:p>
          <a:p>
            <a:pPr algn="l">
              <a:lnSpc>
                <a:spcPct val="140000"/>
              </a:lnSpc>
            </a:pPr>
            <a:r>
              <a:rPr b="0" dirty="0">
                <a:solidFill>
                  <a:srgbClr val="21295C"/>
                </a:solidFill>
                <a:latin typeface="Calibri"/>
              </a:rPr>
              <a:t>with high churn.</a:t>
            </a:r>
          </a:p>
        </p:txBody>
      </p:sp>
    </p:spTree>
    <p:extLst>
      <p:ext uri="{BB962C8B-B14F-4D97-AF65-F5344CB8AC3E}">
        <p14:creationId xmlns:p14="http://schemas.microsoft.com/office/powerpoint/2010/main" val="245562453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A09146-B4BC-C8BE-71D3-9E5573C62C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C60AE593-4786-10B7-6D67-860967EAA8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5F2F1"/>
          </a:solidFill>
        </p:spPr>
        <p:txBody>
          <a:bodyPr/>
          <a:lstStyle/>
          <a:p>
            <a:endParaRPr lang="en-C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E4F8C7B-282A-5D55-AA75-16BC5495DC82}"/>
              </a:ext>
            </a:extLst>
          </p:cNvPr>
          <p:cNvSpPr txBox="1"/>
          <p:nvPr/>
        </p:nvSpPr>
        <p:spPr>
          <a:xfrm>
            <a:off x="548640" y="365760"/>
            <a:ext cx="7315200" cy="2664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dirty="0">
                <a:solidFill>
                  <a:srgbClr val="6B738D"/>
                </a:solidFill>
                <a:latin typeface="Calibri"/>
              </a:rPr>
              <a:t>BACKUP 4 / 5 — Q70 / Q71 / LEADERSHIP BY AGENCY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41BE394-1160-8A30-1C26-FB573D0ACECD}"/>
              </a:ext>
            </a:extLst>
          </p:cNvPr>
          <p:cNvSpPr txBox="1"/>
          <p:nvPr/>
        </p:nvSpPr>
        <p:spPr>
          <a:xfrm>
            <a:off x="548640" y="777240"/>
            <a:ext cx="10972800" cy="5789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>
                <a:solidFill>
                  <a:srgbClr val="21295C"/>
                </a:solidFill>
                <a:latin typeface="Calibri"/>
              </a:rPr>
              <a:t>Department satisfaction heatmap</a:t>
            </a:r>
          </a:p>
        </p:txBody>
      </p:sp>
      <p:pic>
        <p:nvPicPr>
          <p:cNvPr id="5" name="Picture 4" descr="cell22_dept_scores_df_groupby_agency.png">
            <a:extLst>
              <a:ext uri="{FF2B5EF4-FFF2-40B4-BE49-F238E27FC236}">
                <a16:creationId xmlns:a16="http://schemas.microsoft.com/office/drawing/2014/main" id="{793126F9-8953-8FF6-027A-7EBFCB024C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39" y="1920240"/>
            <a:ext cx="8690055" cy="703326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7252636-C342-916D-777D-E81688DF3EF8}"/>
              </a:ext>
            </a:extLst>
          </p:cNvPr>
          <p:cNvSpPr txBox="1"/>
          <p:nvPr/>
        </p:nvSpPr>
        <p:spPr>
          <a:xfrm>
            <a:off x="9982200" y="1981110"/>
            <a:ext cx="5516575" cy="42297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dirty="0">
                <a:solidFill>
                  <a:srgbClr val="21295C"/>
                </a:solidFill>
                <a:latin typeface="Calibri"/>
              </a:rPr>
              <a:t>Mean scores across</a:t>
            </a:r>
          </a:p>
          <a:p>
            <a:pPr algn="l">
              <a:lnSpc>
                <a:spcPct val="140000"/>
              </a:lnSpc>
            </a:pPr>
            <a:r>
              <a:rPr sz="2000" b="0" dirty="0">
                <a:solidFill>
                  <a:srgbClr val="21295C"/>
                </a:solidFill>
                <a:latin typeface="Calibri"/>
              </a:rPr>
              <a:t>36 agencies for:</a:t>
            </a:r>
          </a:p>
          <a:p>
            <a:pPr algn="l">
              <a:lnSpc>
                <a:spcPct val="140000"/>
              </a:lnSpc>
            </a:pPr>
            <a:r>
              <a:rPr sz="2000" b="0" dirty="0">
                <a:solidFill>
                  <a:srgbClr val="21295C"/>
                </a:solidFill>
                <a:latin typeface="Calibri"/>
              </a:rPr>
              <a:t>• Job satisfaction (Q70)</a:t>
            </a:r>
          </a:p>
          <a:p>
            <a:pPr algn="l">
              <a:lnSpc>
                <a:spcPct val="140000"/>
              </a:lnSpc>
            </a:pPr>
            <a:r>
              <a:rPr sz="2000" b="0" dirty="0">
                <a:solidFill>
                  <a:srgbClr val="21295C"/>
                </a:solidFill>
                <a:latin typeface="Calibri"/>
              </a:rPr>
              <a:t>• Pay satisfaction (Q71)</a:t>
            </a:r>
          </a:p>
          <a:p>
            <a:pPr algn="l">
              <a:lnSpc>
                <a:spcPct val="140000"/>
              </a:lnSpc>
            </a:pPr>
            <a:r>
              <a:rPr sz="2000" b="0" dirty="0">
                <a:solidFill>
                  <a:srgbClr val="21295C"/>
                </a:solidFill>
                <a:latin typeface="Calibri"/>
              </a:rPr>
              <a:t>• Leadership composite</a:t>
            </a:r>
          </a:p>
          <a:p>
            <a:pPr algn="l">
              <a:lnSpc>
                <a:spcPct val="140000"/>
              </a:lnSpc>
            </a:pPr>
            <a:endParaRPr sz="2000" b="0" dirty="0">
              <a:solidFill>
                <a:srgbClr val="21295C"/>
              </a:solidFill>
              <a:latin typeface="Calibri"/>
            </a:endParaRPr>
          </a:p>
          <a:p>
            <a:pPr algn="l">
              <a:lnSpc>
                <a:spcPct val="140000"/>
              </a:lnSpc>
            </a:pPr>
            <a:r>
              <a:rPr sz="2000" b="0" dirty="0">
                <a:solidFill>
                  <a:srgbClr val="21295C"/>
                </a:solidFill>
                <a:latin typeface="Calibri"/>
              </a:rPr>
              <a:t>Darker = higher score.</a:t>
            </a:r>
          </a:p>
          <a:p>
            <a:pPr algn="l">
              <a:lnSpc>
                <a:spcPct val="140000"/>
              </a:lnSpc>
            </a:pPr>
            <a:r>
              <a:rPr sz="2000" b="0" dirty="0">
                <a:solidFill>
                  <a:srgbClr val="21295C"/>
                </a:solidFill>
                <a:latin typeface="Calibri"/>
              </a:rPr>
              <a:t>Most agencies cluster</a:t>
            </a:r>
          </a:p>
          <a:p>
            <a:pPr algn="l">
              <a:lnSpc>
                <a:spcPct val="140000"/>
              </a:lnSpc>
            </a:pPr>
            <a:r>
              <a:rPr sz="2000" b="0" dirty="0">
                <a:solidFill>
                  <a:srgbClr val="21295C"/>
                </a:solidFill>
                <a:latin typeface="Calibri"/>
              </a:rPr>
              <a:t>around 3.7-4.0 on the</a:t>
            </a:r>
          </a:p>
          <a:p>
            <a:pPr algn="l">
              <a:lnSpc>
                <a:spcPct val="140000"/>
              </a:lnSpc>
            </a:pPr>
            <a:r>
              <a:rPr sz="2000" b="0" dirty="0">
                <a:solidFill>
                  <a:srgbClr val="21295C"/>
                </a:solidFill>
                <a:latin typeface="Calibri"/>
              </a:rPr>
              <a:t>5-point scale.</a:t>
            </a:r>
          </a:p>
        </p:txBody>
      </p:sp>
    </p:spTree>
    <p:extLst>
      <p:ext uri="{BB962C8B-B14F-4D97-AF65-F5344CB8AC3E}">
        <p14:creationId xmlns:p14="http://schemas.microsoft.com/office/powerpoint/2010/main" val="152254585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6024C1C-00A8-63D3-76E1-C5F0B3F0A8EA}"/>
              </a:ext>
            </a:extLst>
          </p:cNvPr>
          <p:cNvSpPr txBox="1"/>
          <p:nvPr/>
        </p:nvSpPr>
        <p:spPr>
          <a:xfrm>
            <a:off x="1368713" y="1121448"/>
            <a:ext cx="7960783" cy="144655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8800">
                <a:ea typeface="Calibri"/>
                <a:cs typeface="Calibri"/>
              </a:rPr>
              <a:t>MODELING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827F8B4-9253-C41D-6D04-0F948B6C3B59}"/>
              </a:ext>
            </a:extLst>
          </p:cNvPr>
          <p:cNvSpPr txBox="1"/>
          <p:nvPr/>
        </p:nvSpPr>
        <p:spPr>
          <a:xfrm>
            <a:off x="1248448" y="3888894"/>
            <a:ext cx="8204200" cy="286232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6000">
                <a:ea typeface="Calibri"/>
                <a:cs typeface="Calibri"/>
              </a:rPr>
              <a:t>Logistic Regression</a:t>
            </a:r>
          </a:p>
          <a:p>
            <a:pPr marL="285750" indent="-285750">
              <a:buFont typeface="Arial"/>
              <a:buChar char="•"/>
            </a:pPr>
            <a:endParaRPr lang="en-US" sz="6000" dirty="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6000" dirty="0" err="1">
                <a:ea typeface="Calibri"/>
                <a:cs typeface="Calibri"/>
              </a:rPr>
              <a:t>XGBoost</a:t>
            </a:r>
            <a:endParaRPr lang="en-US" sz="6000">
              <a:ea typeface="Calibri"/>
              <a:cs typeface="Calibri"/>
            </a:endParaRPr>
          </a:p>
        </p:txBody>
      </p:sp>
      <p:pic>
        <p:nvPicPr>
          <p:cNvPr id="4" name="Picture 3" descr="A graph on a gray background&#10;&#10;AI-generated content may be incorrect.">
            <a:extLst>
              <a:ext uri="{FF2B5EF4-FFF2-40B4-BE49-F238E27FC236}">
                <a16:creationId xmlns:a16="http://schemas.microsoft.com/office/drawing/2014/main" id="{9E71B50D-6759-B59D-7E0C-7029304536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8242" y="763587"/>
            <a:ext cx="8782050" cy="876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66013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2D06DDF-DA5E-B658-9DBF-CD660E2FD459}"/>
              </a:ext>
            </a:extLst>
          </p:cNvPr>
          <p:cNvSpPr txBox="1"/>
          <p:nvPr/>
        </p:nvSpPr>
        <p:spPr>
          <a:xfrm>
            <a:off x="1044286" y="862445"/>
            <a:ext cx="6109854" cy="98488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000">
                <a:ea typeface="Calibri"/>
                <a:cs typeface="Calibri"/>
              </a:rPr>
              <a:t>Logistic Regression</a:t>
            </a:r>
          </a:p>
          <a:p>
            <a:endParaRPr lang="en-US" dirty="0">
              <a:ea typeface="Calibri"/>
              <a:cs typeface="Calibri"/>
            </a:endParaRPr>
          </a:p>
        </p:txBody>
      </p:sp>
      <p:pic>
        <p:nvPicPr>
          <p:cNvPr id="3" name="Picture 2" descr="A screenshot of a graph&#10;&#10;AI-generated content may be incorrect.">
            <a:extLst>
              <a:ext uri="{FF2B5EF4-FFF2-40B4-BE49-F238E27FC236}">
                <a16:creationId xmlns:a16="http://schemas.microsoft.com/office/drawing/2014/main" id="{B7430793-87FC-B93A-374E-68D9FA5531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3825" y="2411557"/>
            <a:ext cx="10420350" cy="367665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059BE8B-1AC4-1FFF-3D39-0CEC1DC1B96F}"/>
              </a:ext>
            </a:extLst>
          </p:cNvPr>
          <p:cNvSpPr txBox="1"/>
          <p:nvPr/>
        </p:nvSpPr>
        <p:spPr>
          <a:xfrm>
            <a:off x="1371599" y="6899563"/>
            <a:ext cx="16126690" cy="233910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571500" indent="-571500">
              <a:buFont typeface="Arial"/>
              <a:buChar char="•"/>
            </a:pPr>
            <a:r>
              <a:rPr lang="en-US" sz="3200">
                <a:ea typeface="+mn-lt"/>
                <a:cs typeface="+mn-lt"/>
              </a:rPr>
              <a:t> The model is better at predicting people who stay than people who leave.</a:t>
            </a:r>
            <a:endParaRPr lang="en-US" sz="3200">
              <a:ea typeface="Calibri"/>
              <a:cs typeface="Calibri"/>
            </a:endParaRPr>
          </a:p>
          <a:p>
            <a:pPr marL="571500" indent="-571500">
              <a:buFont typeface="Arial"/>
              <a:buChar char="•"/>
            </a:pPr>
            <a:endParaRPr lang="en-US" sz="3200" dirty="0">
              <a:ea typeface="+mn-lt"/>
              <a:cs typeface="+mn-lt"/>
            </a:endParaRPr>
          </a:p>
          <a:p>
            <a:pPr marL="571500" indent="-571500">
              <a:buFont typeface="Arial"/>
              <a:buChar char="•"/>
            </a:pPr>
            <a:r>
              <a:rPr lang="en-US" sz="3200" dirty="0">
                <a:ea typeface="+mn-lt"/>
                <a:cs typeface="+mn-lt"/>
              </a:rPr>
              <a:t>The recall for attrition is relatively low, meaning many at-risk employees are not being captured by the model</a:t>
            </a:r>
            <a:endParaRPr lang="en-US" sz="3200" dirty="0">
              <a:ea typeface="Calibri"/>
              <a:cs typeface="Calibri"/>
            </a:endParaRPr>
          </a:p>
          <a:p>
            <a:endParaRPr lang="en-US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11897347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73823C9-9DC2-4824-DB2A-E6CBEF1F1D5E}"/>
              </a:ext>
            </a:extLst>
          </p:cNvPr>
          <p:cNvSpPr txBox="1"/>
          <p:nvPr/>
        </p:nvSpPr>
        <p:spPr>
          <a:xfrm>
            <a:off x="1537854" y="893618"/>
            <a:ext cx="4073236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4000" err="1">
                <a:ea typeface="Calibri"/>
                <a:cs typeface="Calibri"/>
              </a:rPr>
              <a:t>XGBoost</a:t>
            </a:r>
          </a:p>
        </p:txBody>
      </p:sp>
      <p:pic>
        <p:nvPicPr>
          <p:cNvPr id="3" name="Picture 2" descr="A number of numbers on a white background&#10;&#10;AI-generated content may be incorrect.">
            <a:extLst>
              <a:ext uri="{FF2B5EF4-FFF2-40B4-BE49-F238E27FC236}">
                <a16:creationId xmlns:a16="http://schemas.microsoft.com/office/drawing/2014/main" id="{0274C5F0-60AD-6BCC-A4BA-941EDC0AE8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8257" y="1909330"/>
            <a:ext cx="10229850" cy="405765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C56E080-A67F-21BF-80EE-8645FA14E0C1}"/>
              </a:ext>
            </a:extLst>
          </p:cNvPr>
          <p:cNvSpPr txBox="1"/>
          <p:nvPr/>
        </p:nvSpPr>
        <p:spPr>
          <a:xfrm>
            <a:off x="1361208" y="6629400"/>
            <a:ext cx="16199427" cy="283154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457200" indent="-457200">
              <a:buFont typeface="Arial"/>
              <a:buChar char="•"/>
            </a:pPr>
            <a:r>
              <a:rPr lang="en-US" sz="3200" dirty="0" err="1">
                <a:ea typeface="+mn-lt"/>
                <a:cs typeface="+mn-lt"/>
              </a:rPr>
              <a:t>XGBoost</a:t>
            </a:r>
            <a:r>
              <a:rPr lang="en-US" sz="3200" dirty="0">
                <a:ea typeface="+mn-lt"/>
                <a:cs typeface="+mn-lt"/>
              </a:rPr>
              <a:t> performs slightly worse on accuracy but much better at identifying employees who leave. </a:t>
            </a:r>
          </a:p>
          <a:p>
            <a:pPr marL="457200" indent="-457200">
              <a:buFont typeface="Arial"/>
              <a:buChar char="•"/>
            </a:pPr>
            <a:endParaRPr lang="en-US" sz="3200" dirty="0">
              <a:ea typeface="+mn-lt"/>
              <a:cs typeface="+mn-lt"/>
            </a:endParaRPr>
          </a:p>
          <a:p>
            <a:pPr marL="457200" indent="-457200">
              <a:buFont typeface="Arial"/>
              <a:buChar char="•"/>
            </a:pPr>
            <a:r>
              <a:rPr lang="en-US" sz="3200">
                <a:ea typeface="+mn-lt"/>
                <a:cs typeface="+mn-lt"/>
              </a:rPr>
              <a:t>The recall for attrition improves significantly, which </a:t>
            </a:r>
            <a:r>
              <a:rPr lang="en-US" sz="3200" dirty="0">
                <a:ea typeface="+mn-lt"/>
                <a:cs typeface="+mn-lt"/>
              </a:rPr>
              <a:t>makes it a better model for predicting attrition risk.</a:t>
            </a:r>
            <a:endParaRPr lang="en-US" sz="3200" dirty="0">
              <a:ea typeface="Calibri"/>
              <a:cs typeface="Calibri"/>
            </a:endParaRPr>
          </a:p>
          <a:p>
            <a:pPr algn="l"/>
            <a:endParaRPr lang="en-US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58106819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5F4E093-9726-1C5A-7A80-ED57FD57A7FE}"/>
              </a:ext>
            </a:extLst>
          </p:cNvPr>
          <p:cNvSpPr txBox="1"/>
          <p:nvPr/>
        </p:nvSpPr>
        <p:spPr>
          <a:xfrm>
            <a:off x="1244022" y="353290"/>
            <a:ext cx="6172200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000">
                <a:ea typeface="Calibri"/>
                <a:cs typeface="Calibri"/>
              </a:rPr>
              <a:t>Feature Importance </a:t>
            </a:r>
          </a:p>
        </p:txBody>
      </p:sp>
      <p:pic>
        <p:nvPicPr>
          <p:cNvPr id="3" name="Picture 2" descr="A graph with numbers and a bar&#10;&#10;AI-generated content may be incorrect.">
            <a:extLst>
              <a:ext uri="{FF2B5EF4-FFF2-40B4-BE49-F238E27FC236}">
                <a16:creationId xmlns:a16="http://schemas.microsoft.com/office/drawing/2014/main" id="{FC321FD3-9FE9-B911-508A-AC8A13C5F3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2902" y="1227858"/>
            <a:ext cx="13499523" cy="688571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2017372-542B-1FD9-8921-C535C4DC842A}"/>
              </a:ext>
            </a:extLst>
          </p:cNvPr>
          <p:cNvSpPr txBox="1"/>
          <p:nvPr/>
        </p:nvSpPr>
        <p:spPr>
          <a:xfrm>
            <a:off x="1828801" y="8582890"/>
            <a:ext cx="15773399" cy="86177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457200" indent="-457200">
              <a:buFont typeface="Arial"/>
              <a:buChar char="•"/>
            </a:pPr>
            <a:r>
              <a:rPr lang="en-US" sz="3200">
                <a:highlight>
                  <a:srgbClr val="FFFFFF"/>
                </a:highlight>
                <a:ea typeface="+mn-lt"/>
                <a:cs typeface="+mn-lt"/>
              </a:rPr>
              <a:t>Q70 is the most important feature according to the graph, this aligns with the EDA.</a:t>
            </a:r>
            <a:endParaRPr lang="en-US" sz="3200">
              <a:ea typeface="+mn-lt"/>
              <a:cs typeface="+mn-lt"/>
            </a:endParaRPr>
          </a:p>
          <a:p>
            <a:pPr algn="l"/>
            <a:endParaRPr lang="en-US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39673085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1E0D7A-D49C-3E9B-2869-A78213E77C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C8C19487-6ADF-6407-7703-1E41731B3F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724"/>
            <a:ext cx="18288000" cy="10287000"/>
          </a:xfrm>
          <a:prstGeom prst="rect">
            <a:avLst/>
          </a:prstGeom>
          <a:solidFill>
            <a:srgbClr val="F5F2F1"/>
          </a:solidFill>
        </p:spPr>
        <p:txBody>
          <a:bodyPr/>
          <a:lstStyle/>
          <a:p>
            <a:endParaRPr lang="en-C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01DDB91-018E-C70E-14C4-6C30E509AE74}"/>
              </a:ext>
            </a:extLst>
          </p:cNvPr>
          <p:cNvSpPr txBox="1"/>
          <p:nvPr/>
        </p:nvSpPr>
        <p:spPr>
          <a:xfrm>
            <a:off x="548640" y="777240"/>
            <a:ext cx="10972800" cy="5789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>
                <a:solidFill>
                  <a:srgbClr val="21295C"/>
                </a:solidFill>
                <a:latin typeface="Calibri"/>
              </a:rPr>
              <a:t>Model </a:t>
            </a:r>
            <a:r>
              <a:rPr lang="en-US" sz="3600" b="1">
                <a:solidFill>
                  <a:srgbClr val="21295C"/>
                </a:solidFill>
                <a:latin typeface="Calibri"/>
              </a:rPr>
              <a:t>Comparison</a:t>
            </a:r>
            <a:endParaRPr sz="3600" b="1">
              <a:solidFill>
                <a:srgbClr val="21295C"/>
              </a:solidFill>
              <a:latin typeface="Calibr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0E8DD45-3D82-8ED2-0B66-4BEF873B7DAA}"/>
              </a:ext>
            </a:extLst>
          </p:cNvPr>
          <p:cNvSpPr txBox="1"/>
          <p:nvPr/>
        </p:nvSpPr>
        <p:spPr>
          <a:xfrm>
            <a:off x="11419608" y="2202872"/>
            <a:ext cx="6317672" cy="7571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lnSpc>
                <a:spcPct val="140000"/>
              </a:lnSpc>
              <a:buFont typeface="Arial"/>
              <a:buChar char="•"/>
            </a:pPr>
            <a:endParaRPr lang="en-US" dirty="0">
              <a:solidFill>
                <a:srgbClr val="21295C"/>
              </a:solidFill>
              <a:ea typeface="Calibri"/>
              <a:cs typeface="Calibri"/>
            </a:endParaRPr>
          </a:p>
          <a:p>
            <a:pPr algn="l"/>
            <a:endParaRPr lang="en-US" dirty="0">
              <a:ea typeface="Calibri"/>
              <a:cs typeface="Calibri"/>
            </a:endParaRPr>
          </a:p>
        </p:txBody>
      </p:sp>
      <p:pic>
        <p:nvPicPr>
          <p:cNvPr id="5" name="Picture 4" descr="A screenshot of a graph&#10;&#10;AI-generated content may be incorrect.">
            <a:extLst>
              <a:ext uri="{FF2B5EF4-FFF2-40B4-BE49-F238E27FC236}">
                <a16:creationId xmlns:a16="http://schemas.microsoft.com/office/drawing/2014/main" id="{C87A8654-D96E-E078-5D96-CF2243A562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50648" y="2964007"/>
            <a:ext cx="10306050" cy="211455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B32CA40-B41B-72C9-6FB4-18900B4AAA34}"/>
              </a:ext>
            </a:extLst>
          </p:cNvPr>
          <p:cNvSpPr txBox="1"/>
          <p:nvPr/>
        </p:nvSpPr>
        <p:spPr>
          <a:xfrm>
            <a:off x="1153391" y="6504709"/>
            <a:ext cx="15981218" cy="283154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457200" indent="-457200">
              <a:buFont typeface="Arial"/>
              <a:buChar char="•"/>
            </a:pPr>
            <a:r>
              <a:rPr lang="en-US" sz="3200" dirty="0" err="1">
                <a:ea typeface="+mn-lt"/>
                <a:cs typeface="+mn-lt"/>
              </a:rPr>
              <a:t>XGBoost</a:t>
            </a:r>
            <a:r>
              <a:rPr lang="en-US" sz="3200" dirty="0">
                <a:ea typeface="+mn-lt"/>
                <a:cs typeface="+mn-lt"/>
              </a:rPr>
              <a:t> is the better model for attrition prediction, even though its accuracy is slightly lower.</a:t>
            </a:r>
            <a:endParaRPr lang="en-US" sz="3200">
              <a:ea typeface="Calibri"/>
              <a:cs typeface="Calibri"/>
            </a:endParaRPr>
          </a:p>
          <a:p>
            <a:pPr marL="457200" indent="-457200" algn="l">
              <a:buFont typeface="Arial"/>
              <a:buChar char="•"/>
            </a:pPr>
            <a:endParaRPr lang="en-US" sz="3200" dirty="0">
              <a:ea typeface="Calibri"/>
              <a:cs typeface="Calibri"/>
            </a:endParaRPr>
          </a:p>
          <a:p>
            <a:pPr marL="457200" indent="-457200">
              <a:buFont typeface="Arial"/>
              <a:buChar char="•"/>
            </a:pPr>
            <a:r>
              <a:rPr lang="en-US" sz="3200" dirty="0">
                <a:ea typeface="Calibri"/>
                <a:cs typeface="Calibri"/>
              </a:rPr>
              <a:t>In addition, </a:t>
            </a:r>
            <a:r>
              <a:rPr lang="en-US" sz="3200" err="1">
                <a:ea typeface="+mn-lt"/>
                <a:cs typeface="+mn-lt"/>
              </a:rPr>
              <a:t>XGBoost</a:t>
            </a:r>
            <a:r>
              <a:rPr lang="en-US" sz="3200" dirty="0">
                <a:ea typeface="+mn-lt"/>
                <a:cs typeface="+mn-lt"/>
              </a:rPr>
              <a:t>, significantly improves recall and F1 score, making it more effective for </a:t>
            </a:r>
            <a:r>
              <a:rPr lang="en-US" sz="3200">
                <a:ea typeface="+mn-lt"/>
                <a:cs typeface="+mn-lt"/>
              </a:rPr>
              <a:t>attrition risk prediction compared to Logistic Regression.</a:t>
            </a:r>
            <a:endParaRPr lang="en-US" sz="3200">
              <a:ea typeface="Calibri"/>
              <a:cs typeface="Calibri"/>
            </a:endParaRPr>
          </a:p>
          <a:p>
            <a:endParaRPr lang="en-US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60252826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37C6D50-E38B-177A-64D0-7C9403741AED}"/>
              </a:ext>
            </a:extLst>
          </p:cNvPr>
          <p:cNvSpPr txBox="1"/>
          <p:nvPr/>
        </p:nvSpPr>
        <p:spPr>
          <a:xfrm>
            <a:off x="1059872" y="581891"/>
            <a:ext cx="6691745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000">
                <a:ea typeface="Calibri"/>
                <a:cs typeface="Calibri"/>
              </a:rPr>
              <a:t>ROC Curve Comparison</a:t>
            </a:r>
          </a:p>
        </p:txBody>
      </p:sp>
      <p:pic>
        <p:nvPicPr>
          <p:cNvPr id="3" name="Picture 2" descr="A graph of a curve&#10;&#10;AI-generated content may be incorrect.">
            <a:extLst>
              <a:ext uri="{FF2B5EF4-FFF2-40B4-BE49-F238E27FC236}">
                <a16:creationId xmlns:a16="http://schemas.microsoft.com/office/drawing/2014/main" id="{5E5042D0-4CCF-8815-1C84-73D0E77C71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50896" y="1267691"/>
            <a:ext cx="10059846" cy="774122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5A29DB8-C15A-A9D3-6788-A6682346611B}"/>
              </a:ext>
            </a:extLst>
          </p:cNvPr>
          <p:cNvSpPr txBox="1"/>
          <p:nvPr/>
        </p:nvSpPr>
        <p:spPr>
          <a:xfrm>
            <a:off x="415636" y="2982191"/>
            <a:ext cx="6972300" cy="430887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457200" indent="-457200">
              <a:buFont typeface="Arial"/>
              <a:buChar char="•"/>
            </a:pPr>
            <a:r>
              <a:rPr lang="en-US" sz="3200" dirty="0">
                <a:highlight>
                  <a:srgbClr val="FFFFFF"/>
                </a:highlight>
                <a:ea typeface="+mn-lt"/>
                <a:cs typeface="+mn-lt"/>
              </a:rPr>
              <a:t>Both models perform similarly, with </a:t>
            </a:r>
            <a:r>
              <a:rPr lang="en-US" sz="3200" dirty="0" err="1">
                <a:highlight>
                  <a:srgbClr val="FFFFFF"/>
                </a:highlight>
                <a:ea typeface="+mn-lt"/>
                <a:cs typeface="+mn-lt"/>
              </a:rPr>
              <a:t>XGBoost</a:t>
            </a:r>
            <a:r>
              <a:rPr lang="en-US" sz="3200" dirty="0">
                <a:highlight>
                  <a:srgbClr val="FFFFFF"/>
                </a:highlight>
                <a:ea typeface="+mn-lt"/>
                <a:cs typeface="+mn-lt"/>
              </a:rPr>
              <a:t> slightly outperforming Logistic Regression. </a:t>
            </a:r>
            <a:endParaRPr lang="en-US" sz="3200">
              <a:ea typeface="+mn-lt"/>
              <a:cs typeface="+mn-lt"/>
            </a:endParaRPr>
          </a:p>
          <a:p>
            <a:endParaRPr lang="en-US" sz="3200" dirty="0">
              <a:highlight>
                <a:srgbClr val="FFFFFF"/>
              </a:highlight>
              <a:ea typeface="+mn-lt"/>
              <a:cs typeface="+mn-lt"/>
            </a:endParaRPr>
          </a:p>
          <a:p>
            <a:pPr marL="457200" indent="-457200">
              <a:buFont typeface="Arial"/>
              <a:buChar char="•"/>
            </a:pPr>
            <a:r>
              <a:rPr lang="en-US" sz="3200" dirty="0">
                <a:highlight>
                  <a:srgbClr val="FFFFFF"/>
                </a:highlight>
                <a:ea typeface="+mn-lt"/>
                <a:cs typeface="+mn-lt"/>
              </a:rPr>
              <a:t>The AUC scores around 0.76 indicate the models are reasonably good at distinguishing between employees who stay and those who leave. </a:t>
            </a:r>
            <a:endParaRPr lang="en-US" sz="3200">
              <a:ea typeface="+mn-lt"/>
              <a:cs typeface="+mn-lt"/>
            </a:endParaRPr>
          </a:p>
          <a:p>
            <a:pPr algn="l"/>
            <a:endParaRPr lang="en-US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88982768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72A41A7-3821-68D1-2E23-4F76837A8C71}"/>
              </a:ext>
            </a:extLst>
          </p:cNvPr>
          <p:cNvSpPr txBox="1"/>
          <p:nvPr/>
        </p:nvSpPr>
        <p:spPr>
          <a:xfrm>
            <a:off x="6515100" y="1163781"/>
            <a:ext cx="5257800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4000">
                <a:ea typeface="Calibri"/>
                <a:cs typeface="Calibri"/>
              </a:rPr>
              <a:t>Takeaways 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B8A18EE-4FB7-FFA2-8ADC-F5CE7CCDC4A9}"/>
              </a:ext>
            </a:extLst>
          </p:cNvPr>
          <p:cNvSpPr txBox="1"/>
          <p:nvPr/>
        </p:nvSpPr>
        <p:spPr>
          <a:xfrm>
            <a:off x="1018308" y="2951018"/>
            <a:ext cx="15835745" cy="480131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3200" dirty="0" err="1">
                <a:solidFill>
                  <a:srgbClr val="1F1F1F"/>
                </a:solidFill>
                <a:highlight>
                  <a:srgbClr val="FFFFFF"/>
                </a:highlight>
                <a:ea typeface="+mn-lt"/>
                <a:cs typeface="+mn-lt"/>
              </a:rPr>
              <a:t>XGBoost</a:t>
            </a:r>
            <a:r>
              <a:rPr lang="en-US" sz="3200" dirty="0">
                <a:solidFill>
                  <a:srgbClr val="1F1F1F"/>
                </a:solidFill>
                <a:highlight>
                  <a:srgbClr val="FFFFFF"/>
                </a:highlight>
                <a:ea typeface="+mn-lt"/>
                <a:cs typeface="+mn-lt"/>
              </a:rPr>
              <a:t> captures better predictions due to ability to model nonlinear relationships and feature interactions, resulting in slightly improved recall and overall performance compared to Logistic Regression .</a:t>
            </a:r>
            <a:endParaRPr lang="en-US" sz="3200" dirty="0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endParaRPr lang="en-US" sz="3200" dirty="0">
              <a:solidFill>
                <a:srgbClr val="1F1F1F"/>
              </a:solidFill>
              <a:highlight>
                <a:srgbClr val="FFFFFF"/>
              </a:highlight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sz="3200" b="1" dirty="0">
                <a:solidFill>
                  <a:srgbClr val="1F1F1F"/>
                </a:solidFill>
                <a:highlight>
                  <a:srgbClr val="FFFFFF"/>
                </a:highlight>
                <a:ea typeface="+mn-lt"/>
                <a:cs typeface="+mn-lt"/>
              </a:rPr>
              <a:t>Key predictors (</a:t>
            </a:r>
            <a:r>
              <a:rPr lang="en-US" sz="3200" b="1" dirty="0" err="1">
                <a:solidFill>
                  <a:srgbClr val="1F1F1F"/>
                </a:solidFill>
                <a:highlight>
                  <a:srgbClr val="FFFFFF"/>
                </a:highlight>
                <a:ea typeface="+mn-lt"/>
                <a:cs typeface="+mn-lt"/>
              </a:rPr>
              <a:t>XGBoost</a:t>
            </a:r>
            <a:r>
              <a:rPr lang="en-US" sz="3200" b="1" dirty="0">
                <a:solidFill>
                  <a:srgbClr val="1F1F1F"/>
                </a:solidFill>
                <a:highlight>
                  <a:srgbClr val="FFFFFF"/>
                </a:highlight>
                <a:ea typeface="+mn-lt"/>
                <a:cs typeface="+mn-lt"/>
              </a:rPr>
              <a:t>):</a:t>
            </a:r>
            <a:r>
              <a:rPr lang="en-US" sz="3200" dirty="0">
                <a:solidFill>
                  <a:srgbClr val="1F1F1F"/>
                </a:solidFill>
                <a:highlight>
                  <a:srgbClr val="FFFFFF"/>
                </a:highlight>
                <a:ea typeface="+mn-lt"/>
                <a:cs typeface="+mn-lt"/>
              </a:rPr>
              <a:t> job satisfaction (Q70), leadership composite (mean of Q57–Q65), and pay satisfaction (Q71) dominate.</a:t>
            </a:r>
            <a:endParaRPr lang="en-US" sz="3200" dirty="0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endParaRPr lang="en-US" sz="3200" dirty="0">
              <a:solidFill>
                <a:srgbClr val="1F1F1F"/>
              </a:solidFill>
              <a:highlight>
                <a:srgbClr val="FFFFFF"/>
              </a:highlight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sz="3200" b="1">
                <a:solidFill>
                  <a:srgbClr val="1F1F1F"/>
                </a:solidFill>
                <a:highlight>
                  <a:srgbClr val="FFFFFF"/>
                </a:highlight>
                <a:ea typeface="+mn-lt"/>
                <a:cs typeface="+mn-lt"/>
              </a:rPr>
              <a:t>Recommendation:</a:t>
            </a:r>
            <a:r>
              <a:rPr lang="en-US" sz="3200">
                <a:solidFill>
                  <a:srgbClr val="1F1F1F"/>
                </a:solidFill>
                <a:highlight>
                  <a:srgbClr val="FFFFFF"/>
                </a:highlight>
                <a:ea typeface="+mn-lt"/>
                <a:cs typeface="+mn-lt"/>
              </a:rPr>
              <a:t> to reduce attrition risk, agencies should focus on job satisfaction, leadership quality, and pay satisfaction — not on demographic targeting.</a:t>
            </a:r>
            <a:endParaRPr lang="en-US" sz="3200">
              <a:ea typeface="+mn-lt"/>
              <a:cs typeface="+mn-lt"/>
            </a:endParaRPr>
          </a:p>
          <a:p>
            <a:pPr algn="l"/>
            <a:endParaRPr lang="en-US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92549909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B3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69516F4-928B-03A4-154F-0952D1D48A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>
            <a:extLst>
              <a:ext uri="{FF2B5EF4-FFF2-40B4-BE49-F238E27FC236}">
                <a16:creationId xmlns:a16="http://schemas.microsoft.com/office/drawing/2014/main" id="{05B025BB-1F25-B4F0-1AD7-03956015C92B}"/>
              </a:ext>
            </a:extLst>
          </p:cNvPr>
          <p:cNvSpPr txBox="1"/>
          <p:nvPr/>
        </p:nvSpPr>
        <p:spPr>
          <a:xfrm>
            <a:off x="6096000" y="3538137"/>
            <a:ext cx="11772900" cy="16434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3543"/>
              </a:lnSpc>
              <a:spcBef>
                <a:spcPct val="0"/>
              </a:spcBef>
            </a:pPr>
            <a:r>
              <a:rPr lang="en-US" sz="9674" dirty="0">
                <a:solidFill>
                  <a:srgbClr val="F5F2F1"/>
                </a:solidFill>
                <a:latin typeface="Ovo"/>
                <a:ea typeface="Ovo"/>
                <a:cs typeface="Ovo"/>
                <a:sym typeface="Ovo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6192501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37f4b8a2-ad4f-41b5-9a91-284d2cc38f56}" enabled="1" method="Standard" siteId="{70de1992-07c6-480f-a318-a1afcba03983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2781</TotalTime>
  <Words>852</Words>
  <Application>Microsoft Office PowerPoint</Application>
  <PresentationFormat>Custom</PresentationFormat>
  <Paragraphs>223</Paragraphs>
  <Slides>25</Slides>
  <Notes>19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6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Parekh, Karan</cp:lastModifiedBy>
  <cp:revision>160</cp:revision>
  <dcterms:created xsi:type="dcterms:W3CDTF">2006-08-16T00:00:00Z</dcterms:created>
  <dcterms:modified xsi:type="dcterms:W3CDTF">2026-05-04T21:39:40Z</dcterms:modified>
  <dc:identifier>DAGufF5bic8</dc:identifier>
</cp:coreProperties>
</file>